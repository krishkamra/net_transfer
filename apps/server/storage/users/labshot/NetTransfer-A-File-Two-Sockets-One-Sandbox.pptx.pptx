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4"/>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Open Sauce Heavy" charset="1" panose="00000A00000000000000"/>
      <p:regular r:id="rId20"/>
    </p:embeddedFont>
    <p:embeddedFont>
      <p:font typeface="Open Sauce Light" charset="1" panose="00000400000000000000"/>
      <p:regular r:id="rId21"/>
    </p:embeddedFont>
    <p:embeddedFont>
      <p:font typeface="Open Sauce Bold" charset="1" panose="00000800000000000000"/>
      <p:regular r:id="rId22"/>
    </p:embeddedFont>
    <p:embeddedFont>
      <p:font typeface="Open Sauce" charset="1" panose="00000500000000000000"/>
      <p:regular r:id="rId23"/>
    </p:embeddedFont>
    <p:embeddedFont>
      <p:font typeface="Petrona Bold" charset="1" panose="00000000000000000000"/>
      <p:regular r:id="rId27"/>
    </p:embeddedFont>
    <p:embeddedFont>
      <p:font typeface="Inter" charset="1" panose="02000503000000020004"/>
      <p:regular r:id="rId28"/>
    </p:embeddedFont>
    <p:embeddedFont>
      <p:font typeface="Inter Bold" charset="1" panose="02000503000000020004"/>
      <p:regular r:id="rId29"/>
    </p:embeddedFont>
    <p:embeddedFont>
      <p:font typeface="Consolas" charset="1" panose="020B0609020204030204"/>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notesMasters/notesMaster1.xml" Type="http://schemas.openxmlformats.org/officeDocument/2006/relationships/notesMaster"/><Relationship Id="rId25" Target="theme/theme2.xml" Type="http://schemas.openxmlformats.org/officeDocument/2006/relationships/theme"/><Relationship Id="rId26" Target="notesSlides/notesSlide1.xml" Type="http://schemas.openxmlformats.org/officeDocument/2006/relationships/notesSlide"/><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notesSlides/notesSlide2.xml" Type="http://schemas.openxmlformats.org/officeDocument/2006/relationships/notesSlide"/><Relationship Id="rId31" Target="notesSlides/notesSlide3.xml" Type="http://schemas.openxmlformats.org/officeDocument/2006/relationships/notesSlide"/><Relationship Id="rId32" Target="fonts/font32.fntdata" Type="http://schemas.openxmlformats.org/officeDocument/2006/relationships/font"/><Relationship Id="rId33" Target="notesSlides/notesSlide4.xml" Type="http://schemas.openxmlformats.org/officeDocument/2006/relationships/notesSlide"/><Relationship Id="rId34" Target="notesSlides/notesSlide5.xml" Type="http://schemas.openxmlformats.org/officeDocument/2006/relationships/notesSlide"/><Relationship Id="rId35" Target="notesSlides/notesSlide6.xml" Type="http://schemas.openxmlformats.org/officeDocument/2006/relationships/notesSlide"/><Relationship Id="rId36" Target="notesSlides/notesSlide7.xml" Type="http://schemas.openxmlformats.org/officeDocument/2006/relationships/notesSlide"/><Relationship Id="rId37" Target="notesSlides/notesSlide8.xml" Type="http://schemas.openxmlformats.org/officeDocument/2006/relationships/notesSlide"/><Relationship Id="rId38" Target="notesSlides/notesSlide9.xml" Type="http://schemas.openxmlformats.org/officeDocument/2006/relationships/notesSlide"/><Relationship Id="rId39" Target="notesSlides/notesSlide10.xml" Type="http://schemas.openxmlformats.org/officeDocument/2006/relationships/notesSlide"/><Relationship Id="rId4" Target="theme/theme1.xml" Type="http://schemas.openxmlformats.org/officeDocument/2006/relationships/theme"/><Relationship Id="rId40" Target="notesSlides/notesSlide11.xml" Type="http://schemas.openxmlformats.org/officeDocument/2006/relationships/notesSlide"/><Relationship Id="rId41" Target="notesSlides/notesSlide12.xml" Type="http://schemas.openxmlformats.org/officeDocument/2006/relationships/notesSlide"/><Relationship Id="rId42" Target="notesSlides/notesSlide13.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7.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7.jpe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7.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7.jpeg" Type="http://schemas.openxmlformats.org/officeDocument/2006/relationships/image"/><Relationship Id="rId4" Target="../media/image13.jpeg" Type="http://schemas.openxmlformats.org/officeDocument/2006/relationships/image"/><Relationship Id="rId5" Target="../media/image1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7.jpeg" Type="http://schemas.openxmlformats.org/officeDocument/2006/relationships/image"/><Relationship Id="rId4" Target="../media/image1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7.jpeg" Type="http://schemas.openxmlformats.org/officeDocument/2006/relationships/image"/><Relationship Id="rId4" Target="../media/image1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7.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7.jpeg" Type="http://schemas.openxmlformats.org/officeDocument/2006/relationships/image"/><Relationship Id="rId4" Target="../media/image1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7.jpeg" Type="http://schemas.openxmlformats.org/officeDocument/2006/relationships/image"/><Relationship Id="rId4" Target="../media/image1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7.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7.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3F6F7"/>
        </a:solidFill>
      </p:bgPr>
    </p:bg>
    <p:spTree>
      <p:nvGrpSpPr>
        <p:cNvPr id="1" name=""/>
        <p:cNvGrpSpPr/>
        <p:nvPr/>
      </p:nvGrpSpPr>
      <p:grpSpPr>
        <a:xfrm>
          <a:off x="0" y="0"/>
          <a:ext cx="0" cy="0"/>
          <a:chOff x="0" y="0"/>
          <a:chExt cx="0" cy="0"/>
        </a:xfrm>
      </p:grpSpPr>
      <p:sp>
        <p:nvSpPr>
          <p:cNvPr name="Freeform 2" id="2"/>
          <p:cNvSpPr/>
          <p:nvPr/>
        </p:nvSpPr>
        <p:spPr>
          <a:xfrm flipH="false" flipV="false" rot="-1977201">
            <a:off x="8302125" y="-801031"/>
            <a:ext cx="12791303" cy="9442307"/>
          </a:xfrm>
          <a:custGeom>
            <a:avLst/>
            <a:gdLst/>
            <a:ahLst/>
            <a:cxnLst/>
            <a:rect r="r" b="b" t="t" l="l"/>
            <a:pathLst>
              <a:path h="9442307" w="12791303">
                <a:moveTo>
                  <a:pt x="0" y="0"/>
                </a:moveTo>
                <a:lnTo>
                  <a:pt x="12791302" y="0"/>
                </a:lnTo>
                <a:lnTo>
                  <a:pt x="12791302" y="9442307"/>
                </a:lnTo>
                <a:lnTo>
                  <a:pt x="0" y="9442307"/>
                </a:lnTo>
                <a:lnTo>
                  <a:pt x="0" y="0"/>
                </a:lnTo>
                <a:close/>
              </a:path>
            </a:pathLst>
          </a:custGeom>
          <a:blipFill>
            <a:blip r:embed="rId2">
              <a:alphaModFix amt="42000"/>
            </a:blip>
            <a:stretch>
              <a:fillRect l="0" t="0" r="0" b="0"/>
            </a:stretch>
          </a:blipFill>
        </p:spPr>
      </p:sp>
      <p:sp>
        <p:nvSpPr>
          <p:cNvPr name="Freeform 3" id="3"/>
          <p:cNvSpPr/>
          <p:nvPr/>
        </p:nvSpPr>
        <p:spPr>
          <a:xfrm flipH="false" flipV="false" rot="-10659522">
            <a:off x="-1466084" y="-1104127"/>
            <a:ext cx="6017764" cy="3599717"/>
          </a:xfrm>
          <a:custGeom>
            <a:avLst/>
            <a:gdLst/>
            <a:ahLst/>
            <a:cxnLst/>
            <a:rect r="r" b="b" t="t" l="l"/>
            <a:pathLst>
              <a:path h="3599717" w="6017764">
                <a:moveTo>
                  <a:pt x="0" y="0"/>
                </a:moveTo>
                <a:lnTo>
                  <a:pt x="6017764" y="0"/>
                </a:lnTo>
                <a:lnTo>
                  <a:pt x="6017764" y="3599717"/>
                </a:lnTo>
                <a:lnTo>
                  <a:pt x="0" y="3599717"/>
                </a:lnTo>
                <a:lnTo>
                  <a:pt x="0" y="0"/>
                </a:lnTo>
                <a:close/>
              </a:path>
            </a:pathLst>
          </a:custGeom>
          <a:blipFill>
            <a:blip r:embed="rId3">
              <a:alphaModFix amt="12000"/>
            </a:blip>
            <a:stretch>
              <a:fillRect l="0" t="0" r="0" b="0"/>
            </a:stretch>
          </a:blipFill>
        </p:spPr>
      </p:sp>
      <p:sp>
        <p:nvSpPr>
          <p:cNvPr name="Freeform 4" id="4"/>
          <p:cNvSpPr/>
          <p:nvPr/>
        </p:nvSpPr>
        <p:spPr>
          <a:xfrm flipH="false" flipV="false" rot="0">
            <a:off x="-924022" y="5188961"/>
            <a:ext cx="4716981" cy="6251420"/>
          </a:xfrm>
          <a:custGeom>
            <a:avLst/>
            <a:gdLst/>
            <a:ahLst/>
            <a:cxnLst/>
            <a:rect r="r" b="b" t="t" l="l"/>
            <a:pathLst>
              <a:path h="6251420" w="4716981">
                <a:moveTo>
                  <a:pt x="0" y="0"/>
                </a:moveTo>
                <a:lnTo>
                  <a:pt x="4716981" y="0"/>
                </a:lnTo>
                <a:lnTo>
                  <a:pt x="4716981" y="6251421"/>
                </a:lnTo>
                <a:lnTo>
                  <a:pt x="0" y="6251421"/>
                </a:lnTo>
                <a:lnTo>
                  <a:pt x="0" y="0"/>
                </a:lnTo>
                <a:close/>
              </a:path>
            </a:pathLst>
          </a:custGeom>
          <a:blipFill>
            <a:blip r:embed="rId4">
              <a:alphaModFix amt="2000"/>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953566" y="6703991"/>
            <a:ext cx="13017405" cy="2887986"/>
          </a:xfrm>
          <a:prstGeom prst="rect">
            <a:avLst/>
          </a:prstGeom>
        </p:spPr>
        <p:txBody>
          <a:bodyPr anchor="t" rtlCol="false" tIns="0" lIns="0" bIns="0" rIns="0">
            <a:spAutoFit/>
          </a:bodyPr>
          <a:lstStyle/>
          <a:p>
            <a:pPr algn="l">
              <a:lnSpc>
                <a:spcPts val="23519"/>
              </a:lnSpc>
            </a:pPr>
            <a:r>
              <a:rPr lang="en-US" sz="16799" spc="-789" b="true">
                <a:solidFill>
                  <a:srgbClr val="424242"/>
                </a:solidFill>
                <a:latin typeface="Open Sauce Heavy"/>
                <a:ea typeface="Open Sauce Heavy"/>
                <a:cs typeface="Open Sauce Heavy"/>
                <a:sym typeface="Open Sauce Heavy"/>
              </a:rPr>
              <a:t>NetTransfer</a:t>
            </a:r>
          </a:p>
        </p:txBody>
      </p:sp>
      <p:grpSp>
        <p:nvGrpSpPr>
          <p:cNvPr name="Group 6" id="6"/>
          <p:cNvGrpSpPr/>
          <p:nvPr/>
        </p:nvGrpSpPr>
        <p:grpSpPr>
          <a:xfrm rot="0">
            <a:off x="12869124" y="8626236"/>
            <a:ext cx="498714" cy="49871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24242"/>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AutoShape 9" id="9"/>
          <p:cNvSpPr/>
          <p:nvPr/>
        </p:nvSpPr>
        <p:spPr>
          <a:xfrm>
            <a:off x="1045163" y="1480091"/>
            <a:ext cx="16214137" cy="0"/>
          </a:xfrm>
          <a:prstGeom prst="line">
            <a:avLst/>
          </a:prstGeom>
          <a:ln cap="flat" w="19050">
            <a:solidFill>
              <a:srgbClr val="424242"/>
            </a:solidFill>
            <a:prstDash val="solid"/>
            <a:headEnd type="none" len="sm" w="sm"/>
            <a:tailEnd type="none" len="sm" w="sm"/>
          </a:ln>
        </p:spPr>
      </p:sp>
      <p:sp>
        <p:nvSpPr>
          <p:cNvPr name="Freeform 10" id="10"/>
          <p:cNvSpPr/>
          <p:nvPr/>
        </p:nvSpPr>
        <p:spPr>
          <a:xfrm flipH="false" flipV="false" rot="0">
            <a:off x="1045163" y="132017"/>
            <a:ext cx="7315200" cy="1272209"/>
          </a:xfrm>
          <a:custGeom>
            <a:avLst/>
            <a:gdLst/>
            <a:ahLst/>
            <a:cxnLst/>
            <a:rect r="r" b="b" t="t" l="l"/>
            <a:pathLst>
              <a:path h="1272209" w="7315200">
                <a:moveTo>
                  <a:pt x="0" y="0"/>
                </a:moveTo>
                <a:lnTo>
                  <a:pt x="7315200" y="0"/>
                </a:lnTo>
                <a:lnTo>
                  <a:pt x="7315200" y="1272209"/>
                </a:lnTo>
                <a:lnTo>
                  <a:pt x="0" y="12722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14089987" y="7980807"/>
            <a:ext cx="3450154" cy="995553"/>
          </a:xfrm>
          <a:prstGeom prst="rect">
            <a:avLst/>
          </a:prstGeom>
        </p:spPr>
        <p:txBody>
          <a:bodyPr anchor="t" rtlCol="false" tIns="0" lIns="0" bIns="0" rIns="0">
            <a:spAutoFit/>
          </a:bodyPr>
          <a:lstStyle/>
          <a:p>
            <a:pPr algn="l">
              <a:lnSpc>
                <a:spcPts val="3906"/>
              </a:lnSpc>
            </a:pPr>
            <a:r>
              <a:rPr lang="en-US" sz="3100" spc="-173">
                <a:solidFill>
                  <a:srgbClr val="424242"/>
                </a:solidFill>
                <a:latin typeface="Open Sauce Light"/>
                <a:ea typeface="Open Sauce Light"/>
                <a:cs typeface="Open Sauce Light"/>
                <a:sym typeface="Open Sauce Light"/>
              </a:rPr>
              <a:t>Computer Networks Presentation</a:t>
            </a:r>
          </a:p>
        </p:txBody>
      </p:sp>
      <p:sp>
        <p:nvSpPr>
          <p:cNvPr name="TextBox 12" id="12"/>
          <p:cNvSpPr txBox="true"/>
          <p:nvPr/>
        </p:nvSpPr>
        <p:spPr>
          <a:xfrm rot="0">
            <a:off x="13809146" y="622579"/>
            <a:ext cx="3450154" cy="281559"/>
          </a:xfrm>
          <a:prstGeom prst="rect">
            <a:avLst/>
          </a:prstGeom>
        </p:spPr>
        <p:txBody>
          <a:bodyPr anchor="t" rtlCol="false" tIns="0" lIns="0" bIns="0" rIns="0">
            <a:spAutoFit/>
          </a:bodyPr>
          <a:lstStyle/>
          <a:p>
            <a:pPr algn="r">
              <a:lnSpc>
                <a:spcPts val="2268"/>
              </a:lnSpc>
            </a:pPr>
            <a:r>
              <a:rPr lang="en-US" b="true" sz="1800" spc="-100">
                <a:solidFill>
                  <a:srgbClr val="424242"/>
                </a:solidFill>
                <a:latin typeface="Open Sauce Bold"/>
                <a:ea typeface="Open Sauce Bold"/>
                <a:cs typeface="Open Sauce Bold"/>
                <a:sym typeface="Open Sauce Bold"/>
              </a:rPr>
              <a:t>Presented by :</a:t>
            </a:r>
          </a:p>
        </p:txBody>
      </p:sp>
      <p:sp>
        <p:nvSpPr>
          <p:cNvPr name="TextBox 13" id="13"/>
          <p:cNvSpPr txBox="true"/>
          <p:nvPr/>
        </p:nvSpPr>
        <p:spPr>
          <a:xfrm rot="0">
            <a:off x="13118481" y="920227"/>
            <a:ext cx="4140819" cy="318135"/>
          </a:xfrm>
          <a:prstGeom prst="rect">
            <a:avLst/>
          </a:prstGeom>
        </p:spPr>
        <p:txBody>
          <a:bodyPr anchor="t" rtlCol="false" tIns="0" lIns="0" bIns="0" rIns="0">
            <a:spAutoFit/>
          </a:bodyPr>
          <a:lstStyle/>
          <a:p>
            <a:pPr algn="r">
              <a:lnSpc>
                <a:spcPts val="2520"/>
              </a:lnSpc>
            </a:pPr>
            <a:r>
              <a:rPr lang="en-US" sz="2000" spc="-112">
                <a:solidFill>
                  <a:srgbClr val="424242"/>
                </a:solidFill>
                <a:latin typeface="Open Sauce"/>
                <a:ea typeface="Open Sauce"/>
                <a:cs typeface="Open Sauce"/>
                <a:sym typeface="Open Sauce"/>
              </a:rPr>
              <a:t>Krish Kamra, Jash Kankariya, Tejas Kini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descr="preencoded.png"/>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lnTo>
                    <a:pt x="0" y="0"/>
                  </a:lnTo>
                  <a:close/>
                </a:path>
              </a:pathLst>
            </a:custGeom>
            <a:blipFill>
              <a:blip r:embed="rId3"/>
              <a:stretch>
                <a:fillRect l="-1" t="0" r="-1" b="0"/>
              </a:stretch>
            </a:blip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alpha val="90196"/>
              </a:srgbClr>
            </a:solidFill>
          </p:spPr>
        </p:sp>
      </p:grpSp>
      <p:sp>
        <p:nvSpPr>
          <p:cNvPr name="TextBox 6" id="6"/>
          <p:cNvSpPr txBox="true"/>
          <p:nvPr/>
        </p:nvSpPr>
        <p:spPr>
          <a:xfrm rot="0">
            <a:off x="2260108" y="1376124"/>
            <a:ext cx="13781633" cy="807086"/>
          </a:xfrm>
          <a:prstGeom prst="rect">
            <a:avLst/>
          </a:prstGeom>
        </p:spPr>
        <p:txBody>
          <a:bodyPr anchor="t" rtlCol="false" tIns="0" lIns="0" bIns="0" rIns="0">
            <a:spAutoFit/>
          </a:bodyPr>
          <a:lstStyle/>
          <a:p>
            <a:pPr algn="ctr">
              <a:lnSpc>
                <a:spcPts val="6369"/>
              </a:lnSpc>
            </a:pPr>
            <a:r>
              <a:rPr lang="en-US" sz="5103" b="true">
                <a:solidFill>
                  <a:srgbClr val="000000"/>
                </a:solidFill>
                <a:latin typeface="Petrona Bold"/>
                <a:ea typeface="Petrona Bold"/>
                <a:cs typeface="Petrona Bold"/>
                <a:sym typeface="Petrona Bold"/>
              </a:rPr>
              <a:t>NetTransfer: A File, Two Sockets, One Sandbox</a:t>
            </a:r>
          </a:p>
        </p:txBody>
      </p:sp>
      <p:sp>
        <p:nvSpPr>
          <p:cNvPr name="TextBox 7" id="7"/>
          <p:cNvSpPr txBox="true"/>
          <p:nvPr/>
        </p:nvSpPr>
        <p:spPr>
          <a:xfrm rot="0">
            <a:off x="535438" y="2639663"/>
            <a:ext cx="17230954" cy="482956"/>
          </a:xfrm>
          <a:prstGeom prst="rect">
            <a:avLst/>
          </a:prstGeom>
        </p:spPr>
        <p:txBody>
          <a:bodyPr anchor="t" rtlCol="false" tIns="0" lIns="0" bIns="0" rIns="0">
            <a:spAutoFit/>
          </a:bodyPr>
          <a:lstStyle/>
          <a:p>
            <a:pPr algn="ctr">
              <a:lnSpc>
                <a:spcPts val="3114"/>
              </a:lnSpc>
            </a:pPr>
            <a:r>
              <a:rPr lang="en-US" sz="1951">
                <a:solidFill>
                  <a:srgbClr val="272525"/>
                </a:solidFill>
                <a:latin typeface="Inter"/>
                <a:ea typeface="Inter"/>
                <a:cs typeface="Inter"/>
                <a:sym typeface="Inter"/>
              </a:rPr>
              <a:t>A custom TCP file protocol demonstrating Computer Networks fundamentals through a localhost laboratory environment.</a:t>
            </a:r>
          </a:p>
        </p:txBody>
      </p:sp>
      <p:grpSp>
        <p:nvGrpSpPr>
          <p:cNvPr name="Group 8" id="8"/>
          <p:cNvGrpSpPr/>
          <p:nvPr/>
        </p:nvGrpSpPr>
        <p:grpSpPr>
          <a:xfrm rot="0">
            <a:off x="988219" y="3397129"/>
            <a:ext cx="16325393" cy="1478423"/>
            <a:chOff x="0" y="0"/>
            <a:chExt cx="21767190" cy="1971230"/>
          </a:xfrm>
        </p:grpSpPr>
        <p:sp>
          <p:nvSpPr>
            <p:cNvPr name="Freeform 9" id="9"/>
            <p:cNvSpPr/>
            <p:nvPr/>
          </p:nvSpPr>
          <p:spPr>
            <a:xfrm flipH="false" flipV="false" rot="0">
              <a:off x="0" y="0"/>
              <a:ext cx="21767166" cy="1971294"/>
            </a:xfrm>
            <a:custGeom>
              <a:avLst/>
              <a:gdLst/>
              <a:ahLst/>
              <a:cxnLst/>
              <a:rect r="r" b="b" t="t" l="l"/>
              <a:pathLst>
                <a:path h="1971294" w="21767166">
                  <a:moveTo>
                    <a:pt x="0" y="139954"/>
                  </a:moveTo>
                  <a:cubicBezTo>
                    <a:pt x="0" y="62611"/>
                    <a:pt x="62611" y="0"/>
                    <a:pt x="139954" y="0"/>
                  </a:cubicBezTo>
                  <a:lnTo>
                    <a:pt x="21627212" y="0"/>
                  </a:lnTo>
                  <a:cubicBezTo>
                    <a:pt x="21704554" y="0"/>
                    <a:pt x="21767166" y="62611"/>
                    <a:pt x="21767166" y="139954"/>
                  </a:cubicBezTo>
                  <a:lnTo>
                    <a:pt x="21767166" y="1831340"/>
                  </a:lnTo>
                  <a:cubicBezTo>
                    <a:pt x="21767166" y="1908683"/>
                    <a:pt x="21704554" y="1971294"/>
                    <a:pt x="21627212" y="1971294"/>
                  </a:cubicBezTo>
                  <a:lnTo>
                    <a:pt x="139954" y="1971294"/>
                  </a:lnTo>
                  <a:cubicBezTo>
                    <a:pt x="62611" y="1971167"/>
                    <a:pt x="0" y="1908556"/>
                    <a:pt x="0" y="1831340"/>
                  </a:cubicBezTo>
                  <a:close/>
                </a:path>
              </a:pathLst>
            </a:custGeom>
            <a:solidFill>
              <a:srgbClr val="CCEEFF"/>
            </a:solidFill>
            <a:ln w="9532" cap="sq">
              <a:solidFill>
                <a:srgbClr val="B2D4E5"/>
              </a:solidFill>
              <a:prstDash val="solid"/>
              <a:miter/>
            </a:ln>
          </p:spPr>
        </p:sp>
      </p:grpSp>
      <p:grpSp>
        <p:nvGrpSpPr>
          <p:cNvPr name="Group 10" id="10"/>
          <p:cNvGrpSpPr/>
          <p:nvPr/>
        </p:nvGrpSpPr>
        <p:grpSpPr>
          <a:xfrm rot="0">
            <a:off x="1002525" y="3411426"/>
            <a:ext cx="5432165" cy="1449829"/>
            <a:chOff x="0" y="0"/>
            <a:chExt cx="7242886" cy="1933105"/>
          </a:xfrm>
        </p:grpSpPr>
        <p:sp>
          <p:nvSpPr>
            <p:cNvPr name="Freeform 11" id="11"/>
            <p:cNvSpPr/>
            <p:nvPr/>
          </p:nvSpPr>
          <p:spPr>
            <a:xfrm flipH="false" flipV="false" rot="0">
              <a:off x="0" y="0"/>
              <a:ext cx="7242937" cy="1933067"/>
            </a:xfrm>
            <a:custGeom>
              <a:avLst/>
              <a:gdLst/>
              <a:ahLst/>
              <a:cxnLst/>
              <a:rect r="r" b="b" t="t" l="l"/>
              <a:pathLst>
                <a:path h="1933067" w="7242937">
                  <a:moveTo>
                    <a:pt x="115824" y="0"/>
                  </a:moveTo>
                  <a:lnTo>
                    <a:pt x="7242937" y="0"/>
                  </a:lnTo>
                  <a:lnTo>
                    <a:pt x="7242937" y="1933067"/>
                  </a:lnTo>
                  <a:lnTo>
                    <a:pt x="115824" y="1933067"/>
                  </a:lnTo>
                  <a:cubicBezTo>
                    <a:pt x="51816" y="1933067"/>
                    <a:pt x="0" y="1881251"/>
                    <a:pt x="0" y="1817243"/>
                  </a:cubicBezTo>
                  <a:lnTo>
                    <a:pt x="0" y="115824"/>
                  </a:lnTo>
                  <a:cubicBezTo>
                    <a:pt x="0" y="51816"/>
                    <a:pt x="51816" y="0"/>
                    <a:pt x="115824" y="0"/>
                  </a:cubicBezTo>
                  <a:close/>
                </a:path>
              </a:pathLst>
            </a:custGeom>
            <a:solidFill>
              <a:srgbClr val="CCEEFF"/>
            </a:solidFill>
          </p:spPr>
        </p:sp>
      </p:grpSp>
      <p:sp>
        <p:nvSpPr>
          <p:cNvPr name="TextBox 12" id="12"/>
          <p:cNvSpPr txBox="true"/>
          <p:nvPr/>
        </p:nvSpPr>
        <p:spPr>
          <a:xfrm rot="0">
            <a:off x="1250652" y="3630987"/>
            <a:ext cx="4935893" cy="435940"/>
          </a:xfrm>
          <a:prstGeom prst="rect">
            <a:avLst/>
          </a:prstGeom>
        </p:spPr>
        <p:txBody>
          <a:bodyPr anchor="t" rtlCol="false" tIns="0" lIns="0" bIns="0" rIns="0">
            <a:spAutoFit/>
          </a:bodyPr>
          <a:lstStyle/>
          <a:p>
            <a:pPr algn="l">
              <a:lnSpc>
                <a:spcPts val="3184"/>
              </a:lnSpc>
            </a:pPr>
            <a:r>
              <a:rPr lang="en-US" sz="2551" b="true">
                <a:solidFill>
                  <a:srgbClr val="272525"/>
                </a:solidFill>
                <a:latin typeface="Petrona Bold"/>
                <a:ea typeface="Petrona Bold"/>
                <a:cs typeface="Petrona Bold"/>
                <a:sym typeface="Petrona Bold"/>
              </a:rPr>
              <a:t>TCP Control</a:t>
            </a:r>
          </a:p>
        </p:txBody>
      </p:sp>
      <p:sp>
        <p:nvSpPr>
          <p:cNvPr name="TextBox 13" id="13"/>
          <p:cNvSpPr txBox="true"/>
          <p:nvPr/>
        </p:nvSpPr>
        <p:spPr>
          <a:xfrm rot="0">
            <a:off x="1250652" y="4130145"/>
            <a:ext cx="4935893" cy="482956"/>
          </a:xfrm>
          <a:prstGeom prst="rect">
            <a:avLst/>
          </a:prstGeom>
        </p:spPr>
        <p:txBody>
          <a:bodyPr anchor="t" rtlCol="false" tIns="0" lIns="0" bIns="0" rIns="0">
            <a:spAutoFit/>
          </a:bodyPr>
          <a:lstStyle/>
          <a:p>
            <a:pPr algn="l">
              <a:lnSpc>
                <a:spcPts val="3114"/>
              </a:lnSpc>
            </a:pPr>
            <a:r>
              <a:rPr lang="en-US" sz="1951">
                <a:solidFill>
                  <a:srgbClr val="272525"/>
                </a:solidFill>
                <a:latin typeface="Inter"/>
                <a:ea typeface="Inter"/>
                <a:cs typeface="Inter"/>
                <a:sym typeface="Inter"/>
              </a:rPr>
              <a:t>Port </a:t>
            </a:r>
            <a:r>
              <a:rPr lang="en-US" sz="1951" b="true">
                <a:solidFill>
                  <a:srgbClr val="272525"/>
                </a:solidFill>
                <a:latin typeface="Inter Bold"/>
                <a:ea typeface="Inter Bold"/>
                <a:cs typeface="Inter Bold"/>
                <a:sym typeface="Inter Bold"/>
              </a:rPr>
              <a:t>2121</a:t>
            </a:r>
          </a:p>
        </p:txBody>
      </p:sp>
      <p:grpSp>
        <p:nvGrpSpPr>
          <p:cNvPr name="Group 14" id="14"/>
          <p:cNvGrpSpPr/>
          <p:nvPr/>
        </p:nvGrpSpPr>
        <p:grpSpPr>
          <a:xfrm rot="0">
            <a:off x="6434690" y="3411426"/>
            <a:ext cx="5432317" cy="1449829"/>
            <a:chOff x="0" y="0"/>
            <a:chExt cx="7243089" cy="1933105"/>
          </a:xfrm>
        </p:grpSpPr>
        <p:sp>
          <p:nvSpPr>
            <p:cNvPr name="Freeform 15" id="15"/>
            <p:cNvSpPr/>
            <p:nvPr/>
          </p:nvSpPr>
          <p:spPr>
            <a:xfrm flipH="false" flipV="false" rot="0">
              <a:off x="0" y="0"/>
              <a:ext cx="7243064" cy="1933067"/>
            </a:xfrm>
            <a:custGeom>
              <a:avLst/>
              <a:gdLst/>
              <a:ahLst/>
              <a:cxnLst/>
              <a:rect r="r" b="b" t="t" l="l"/>
              <a:pathLst>
                <a:path h="1933067" w="7243064">
                  <a:moveTo>
                    <a:pt x="0" y="0"/>
                  </a:moveTo>
                  <a:lnTo>
                    <a:pt x="7243064" y="0"/>
                  </a:lnTo>
                  <a:lnTo>
                    <a:pt x="7243064" y="1933067"/>
                  </a:lnTo>
                  <a:lnTo>
                    <a:pt x="0" y="1933067"/>
                  </a:lnTo>
                  <a:close/>
                </a:path>
              </a:pathLst>
            </a:custGeom>
            <a:solidFill>
              <a:srgbClr val="CCEEFF"/>
            </a:solidFill>
          </p:spPr>
        </p:sp>
      </p:grpSp>
      <p:grpSp>
        <p:nvGrpSpPr>
          <p:cNvPr name="Group 16" id="16"/>
          <p:cNvGrpSpPr/>
          <p:nvPr/>
        </p:nvGrpSpPr>
        <p:grpSpPr>
          <a:xfrm rot="0">
            <a:off x="6434690" y="3411426"/>
            <a:ext cx="28594" cy="1449829"/>
            <a:chOff x="0" y="0"/>
            <a:chExt cx="38125" cy="1933105"/>
          </a:xfrm>
        </p:grpSpPr>
        <p:sp>
          <p:nvSpPr>
            <p:cNvPr name="Freeform 17" id="17"/>
            <p:cNvSpPr/>
            <p:nvPr/>
          </p:nvSpPr>
          <p:spPr>
            <a:xfrm flipH="false" flipV="false" rot="0">
              <a:off x="0" y="0"/>
              <a:ext cx="38100" cy="1933067"/>
            </a:xfrm>
            <a:custGeom>
              <a:avLst/>
              <a:gdLst/>
              <a:ahLst/>
              <a:cxnLst/>
              <a:rect r="r" b="b" t="t" l="l"/>
              <a:pathLst>
                <a:path h="1933067" w="38100">
                  <a:moveTo>
                    <a:pt x="0" y="19050"/>
                  </a:moveTo>
                  <a:cubicBezTo>
                    <a:pt x="0" y="8509"/>
                    <a:pt x="8509" y="0"/>
                    <a:pt x="19050" y="0"/>
                  </a:cubicBezTo>
                  <a:cubicBezTo>
                    <a:pt x="29591" y="0"/>
                    <a:pt x="38100" y="8509"/>
                    <a:pt x="38100" y="19050"/>
                  </a:cubicBezTo>
                  <a:lnTo>
                    <a:pt x="38100" y="1914017"/>
                  </a:lnTo>
                  <a:cubicBezTo>
                    <a:pt x="38100" y="1924558"/>
                    <a:pt x="29591" y="1933067"/>
                    <a:pt x="19050" y="1933067"/>
                  </a:cubicBezTo>
                  <a:cubicBezTo>
                    <a:pt x="8509" y="1933067"/>
                    <a:pt x="0" y="1924558"/>
                    <a:pt x="0" y="1914017"/>
                  </a:cubicBezTo>
                  <a:close/>
                </a:path>
              </a:pathLst>
            </a:custGeom>
            <a:solidFill>
              <a:srgbClr val="B2D4E5"/>
            </a:solidFill>
          </p:spPr>
        </p:sp>
      </p:grpSp>
      <p:sp>
        <p:nvSpPr>
          <p:cNvPr name="TextBox 18" id="18"/>
          <p:cNvSpPr txBox="true"/>
          <p:nvPr/>
        </p:nvSpPr>
        <p:spPr>
          <a:xfrm rot="0">
            <a:off x="6682826" y="3630987"/>
            <a:ext cx="4936046" cy="435940"/>
          </a:xfrm>
          <a:prstGeom prst="rect">
            <a:avLst/>
          </a:prstGeom>
        </p:spPr>
        <p:txBody>
          <a:bodyPr anchor="t" rtlCol="false" tIns="0" lIns="0" bIns="0" rIns="0">
            <a:spAutoFit/>
          </a:bodyPr>
          <a:lstStyle/>
          <a:p>
            <a:pPr algn="l">
              <a:lnSpc>
                <a:spcPts val="3184"/>
              </a:lnSpc>
            </a:pPr>
            <a:r>
              <a:rPr lang="en-US" sz="2551" b="true">
                <a:solidFill>
                  <a:srgbClr val="272525"/>
                </a:solidFill>
                <a:latin typeface="Petrona Bold"/>
                <a:ea typeface="Petrona Bold"/>
                <a:cs typeface="Petrona Bold"/>
                <a:sym typeface="Petrona Bold"/>
              </a:rPr>
              <a:t>HTTP / WS API</a:t>
            </a:r>
          </a:p>
        </p:txBody>
      </p:sp>
      <p:sp>
        <p:nvSpPr>
          <p:cNvPr name="TextBox 19" id="19"/>
          <p:cNvSpPr txBox="true"/>
          <p:nvPr/>
        </p:nvSpPr>
        <p:spPr>
          <a:xfrm rot="0">
            <a:off x="6682826" y="4130145"/>
            <a:ext cx="4936046" cy="482956"/>
          </a:xfrm>
          <a:prstGeom prst="rect">
            <a:avLst/>
          </a:prstGeom>
        </p:spPr>
        <p:txBody>
          <a:bodyPr anchor="t" rtlCol="false" tIns="0" lIns="0" bIns="0" rIns="0">
            <a:spAutoFit/>
          </a:bodyPr>
          <a:lstStyle/>
          <a:p>
            <a:pPr algn="l">
              <a:lnSpc>
                <a:spcPts val="3114"/>
              </a:lnSpc>
            </a:pPr>
            <a:r>
              <a:rPr lang="en-US" sz="1951">
                <a:solidFill>
                  <a:srgbClr val="272525"/>
                </a:solidFill>
                <a:latin typeface="Inter"/>
                <a:ea typeface="Inter"/>
                <a:cs typeface="Inter"/>
                <a:sym typeface="Inter"/>
              </a:rPr>
              <a:t>Port </a:t>
            </a:r>
            <a:r>
              <a:rPr lang="en-US" sz="1951" b="true">
                <a:solidFill>
                  <a:srgbClr val="272525"/>
                </a:solidFill>
                <a:latin typeface="Inter Bold"/>
                <a:ea typeface="Inter Bold"/>
                <a:cs typeface="Inter Bold"/>
                <a:sym typeface="Inter Bold"/>
              </a:rPr>
              <a:t>8000</a:t>
            </a:r>
          </a:p>
        </p:txBody>
      </p:sp>
      <p:grpSp>
        <p:nvGrpSpPr>
          <p:cNvPr name="Group 20" id="20"/>
          <p:cNvGrpSpPr/>
          <p:nvPr/>
        </p:nvGrpSpPr>
        <p:grpSpPr>
          <a:xfrm rot="0">
            <a:off x="11867007" y="3411426"/>
            <a:ext cx="5432317" cy="1449829"/>
            <a:chOff x="0" y="0"/>
            <a:chExt cx="7243089" cy="1933105"/>
          </a:xfrm>
        </p:grpSpPr>
        <p:sp>
          <p:nvSpPr>
            <p:cNvPr name="Freeform 21" id="21"/>
            <p:cNvSpPr/>
            <p:nvPr/>
          </p:nvSpPr>
          <p:spPr>
            <a:xfrm flipH="false" flipV="false" rot="0">
              <a:off x="0" y="0"/>
              <a:ext cx="7243064" cy="1933067"/>
            </a:xfrm>
            <a:custGeom>
              <a:avLst/>
              <a:gdLst/>
              <a:ahLst/>
              <a:cxnLst/>
              <a:rect r="r" b="b" t="t" l="l"/>
              <a:pathLst>
                <a:path h="1933067" w="7243064">
                  <a:moveTo>
                    <a:pt x="0" y="0"/>
                  </a:moveTo>
                  <a:lnTo>
                    <a:pt x="7127240" y="0"/>
                  </a:lnTo>
                  <a:cubicBezTo>
                    <a:pt x="7191248" y="0"/>
                    <a:pt x="7243064" y="51816"/>
                    <a:pt x="7243064" y="115824"/>
                  </a:cubicBezTo>
                  <a:lnTo>
                    <a:pt x="7243064" y="1817243"/>
                  </a:lnTo>
                  <a:cubicBezTo>
                    <a:pt x="7243064" y="1881251"/>
                    <a:pt x="7191248" y="1933067"/>
                    <a:pt x="7127240" y="1933067"/>
                  </a:cubicBezTo>
                  <a:lnTo>
                    <a:pt x="0" y="1933067"/>
                  </a:lnTo>
                  <a:lnTo>
                    <a:pt x="0" y="0"/>
                  </a:lnTo>
                  <a:close/>
                </a:path>
              </a:pathLst>
            </a:custGeom>
            <a:solidFill>
              <a:srgbClr val="CCEEFF"/>
            </a:solidFill>
          </p:spPr>
        </p:sp>
      </p:grpSp>
      <p:grpSp>
        <p:nvGrpSpPr>
          <p:cNvPr name="Group 22" id="22"/>
          <p:cNvGrpSpPr/>
          <p:nvPr/>
        </p:nvGrpSpPr>
        <p:grpSpPr>
          <a:xfrm rot="0">
            <a:off x="11867007" y="3411426"/>
            <a:ext cx="28594" cy="1449829"/>
            <a:chOff x="0" y="0"/>
            <a:chExt cx="38125" cy="1933105"/>
          </a:xfrm>
        </p:grpSpPr>
        <p:sp>
          <p:nvSpPr>
            <p:cNvPr name="Freeform 23" id="23"/>
            <p:cNvSpPr/>
            <p:nvPr/>
          </p:nvSpPr>
          <p:spPr>
            <a:xfrm flipH="false" flipV="false" rot="0">
              <a:off x="0" y="0"/>
              <a:ext cx="38100" cy="1933067"/>
            </a:xfrm>
            <a:custGeom>
              <a:avLst/>
              <a:gdLst/>
              <a:ahLst/>
              <a:cxnLst/>
              <a:rect r="r" b="b" t="t" l="l"/>
              <a:pathLst>
                <a:path h="1933067" w="38100">
                  <a:moveTo>
                    <a:pt x="0" y="19050"/>
                  </a:moveTo>
                  <a:cubicBezTo>
                    <a:pt x="0" y="8509"/>
                    <a:pt x="8509" y="0"/>
                    <a:pt x="19050" y="0"/>
                  </a:cubicBezTo>
                  <a:cubicBezTo>
                    <a:pt x="29591" y="0"/>
                    <a:pt x="38100" y="8509"/>
                    <a:pt x="38100" y="19050"/>
                  </a:cubicBezTo>
                  <a:lnTo>
                    <a:pt x="38100" y="1914017"/>
                  </a:lnTo>
                  <a:cubicBezTo>
                    <a:pt x="38100" y="1924558"/>
                    <a:pt x="29591" y="1933067"/>
                    <a:pt x="19050" y="1933067"/>
                  </a:cubicBezTo>
                  <a:cubicBezTo>
                    <a:pt x="8509" y="1933067"/>
                    <a:pt x="0" y="1924558"/>
                    <a:pt x="0" y="1914017"/>
                  </a:cubicBezTo>
                  <a:close/>
                </a:path>
              </a:pathLst>
            </a:custGeom>
            <a:solidFill>
              <a:srgbClr val="B2D4E5"/>
            </a:solidFill>
          </p:spPr>
        </p:sp>
      </p:grpSp>
      <p:sp>
        <p:nvSpPr>
          <p:cNvPr name="TextBox 24" id="24"/>
          <p:cNvSpPr txBox="true"/>
          <p:nvPr/>
        </p:nvSpPr>
        <p:spPr>
          <a:xfrm rot="0">
            <a:off x="12115143" y="3630987"/>
            <a:ext cx="4936046" cy="435940"/>
          </a:xfrm>
          <a:prstGeom prst="rect">
            <a:avLst/>
          </a:prstGeom>
        </p:spPr>
        <p:txBody>
          <a:bodyPr anchor="t" rtlCol="false" tIns="0" lIns="0" bIns="0" rIns="0">
            <a:spAutoFit/>
          </a:bodyPr>
          <a:lstStyle/>
          <a:p>
            <a:pPr algn="l">
              <a:lnSpc>
                <a:spcPts val="3184"/>
              </a:lnSpc>
            </a:pPr>
            <a:r>
              <a:rPr lang="en-US" sz="2551" b="true">
                <a:solidFill>
                  <a:srgbClr val="272525"/>
                </a:solidFill>
                <a:latin typeface="Petrona Bold"/>
                <a:ea typeface="Petrona Bold"/>
                <a:cs typeface="Petrona Bold"/>
                <a:sym typeface="Petrona Bold"/>
              </a:rPr>
              <a:t>Web Console</a:t>
            </a:r>
          </a:p>
        </p:txBody>
      </p:sp>
      <p:sp>
        <p:nvSpPr>
          <p:cNvPr name="TextBox 25" id="25"/>
          <p:cNvSpPr txBox="true"/>
          <p:nvPr/>
        </p:nvSpPr>
        <p:spPr>
          <a:xfrm rot="0">
            <a:off x="12115143" y="4130145"/>
            <a:ext cx="4936046" cy="482956"/>
          </a:xfrm>
          <a:prstGeom prst="rect">
            <a:avLst/>
          </a:prstGeom>
        </p:spPr>
        <p:txBody>
          <a:bodyPr anchor="t" rtlCol="false" tIns="0" lIns="0" bIns="0" rIns="0">
            <a:spAutoFit/>
          </a:bodyPr>
          <a:lstStyle/>
          <a:p>
            <a:pPr algn="l">
              <a:lnSpc>
                <a:spcPts val="3114"/>
              </a:lnSpc>
            </a:pPr>
            <a:r>
              <a:rPr lang="en-US" sz="1951">
                <a:solidFill>
                  <a:srgbClr val="272525"/>
                </a:solidFill>
                <a:latin typeface="Inter"/>
                <a:ea typeface="Inter"/>
                <a:cs typeface="Inter"/>
                <a:sym typeface="Inter"/>
              </a:rPr>
              <a:t>Port </a:t>
            </a:r>
            <a:r>
              <a:rPr lang="en-US" sz="1951" b="true">
                <a:solidFill>
                  <a:srgbClr val="272525"/>
                </a:solidFill>
                <a:latin typeface="Inter Bold"/>
                <a:ea typeface="Inter Bold"/>
                <a:cs typeface="Inter Bold"/>
                <a:sym typeface="Inter Bold"/>
              </a:rPr>
              <a:t>3000</a:t>
            </a:r>
          </a:p>
        </p:txBody>
      </p:sp>
      <p:sp>
        <p:nvSpPr>
          <p:cNvPr name="TextBox 26" id="26"/>
          <p:cNvSpPr txBox="true"/>
          <p:nvPr/>
        </p:nvSpPr>
        <p:spPr>
          <a:xfrm rot="0">
            <a:off x="992991" y="5287747"/>
            <a:ext cx="9547250" cy="3111779"/>
          </a:xfrm>
          <a:prstGeom prst="rect">
            <a:avLst/>
          </a:prstGeom>
        </p:spPr>
        <p:txBody>
          <a:bodyPr anchor="t" rtlCol="false" tIns="0" lIns="0" bIns="0" rIns="0">
            <a:spAutoFit/>
          </a:bodyPr>
          <a:lstStyle/>
          <a:p>
            <a:pPr algn="l">
              <a:lnSpc>
                <a:spcPts val="3114"/>
              </a:lnSpc>
            </a:pPr>
            <a:r>
              <a:rPr lang="en-US" sz="1951">
                <a:solidFill>
                  <a:srgbClr val="272525"/>
                </a:solidFill>
                <a:latin typeface="Inter"/>
                <a:ea typeface="Inter"/>
                <a:cs typeface="Inter"/>
                <a:sym typeface="Inter"/>
              </a:rPr>
              <a:t>NetTransfer is a complete, self-contained file-transfer system built on a hand-designed TCP session protocol running on loopback. Every component, from the React web console at port 3000, through the FastAPI middleware at port 8000, down to the raw TCP server at port 2121, was authored from scratch as a Computer Networks laboratory exercise. The system is intentionally unencrypted so that every byte of the protocol exchange is visible in Wireshark, making it an ideal vehicle for demonstrating TCP session mechanics, HTTP control planes, and WebSocket progress channels simultaneously.</a:t>
            </a:r>
          </a:p>
        </p:txBody>
      </p:sp>
      <p:grpSp>
        <p:nvGrpSpPr>
          <p:cNvPr name="Group 27" id="27"/>
          <p:cNvGrpSpPr/>
          <p:nvPr/>
        </p:nvGrpSpPr>
        <p:grpSpPr>
          <a:xfrm rot="0">
            <a:off x="10976639" y="5150053"/>
            <a:ext cx="6520329" cy="3730762"/>
            <a:chOff x="0" y="0"/>
            <a:chExt cx="8693772" cy="4974349"/>
          </a:xfrm>
        </p:grpSpPr>
        <p:sp>
          <p:nvSpPr>
            <p:cNvPr name="Freeform 28" id="28"/>
            <p:cNvSpPr/>
            <p:nvPr/>
          </p:nvSpPr>
          <p:spPr>
            <a:xfrm flipH="false" flipV="false" rot="0">
              <a:off x="0" y="0"/>
              <a:ext cx="8693786" cy="4974336"/>
            </a:xfrm>
            <a:custGeom>
              <a:avLst/>
              <a:gdLst/>
              <a:ahLst/>
              <a:cxnLst/>
              <a:rect r="r" b="b" t="t" l="l"/>
              <a:pathLst>
                <a:path h="4974336" w="8693786">
                  <a:moveTo>
                    <a:pt x="0" y="238379"/>
                  </a:moveTo>
                  <a:cubicBezTo>
                    <a:pt x="0" y="106680"/>
                    <a:pt x="106680" y="0"/>
                    <a:pt x="238379" y="0"/>
                  </a:cubicBezTo>
                  <a:lnTo>
                    <a:pt x="8455406" y="0"/>
                  </a:lnTo>
                  <a:cubicBezTo>
                    <a:pt x="8587105" y="0"/>
                    <a:pt x="8693786" y="106680"/>
                    <a:pt x="8693786" y="238379"/>
                  </a:cubicBezTo>
                  <a:lnTo>
                    <a:pt x="8693786" y="4735957"/>
                  </a:lnTo>
                  <a:cubicBezTo>
                    <a:pt x="8693786" y="4867656"/>
                    <a:pt x="8587105" y="4974336"/>
                    <a:pt x="8455406" y="4974336"/>
                  </a:cubicBezTo>
                  <a:lnTo>
                    <a:pt x="238379" y="4974336"/>
                  </a:lnTo>
                  <a:cubicBezTo>
                    <a:pt x="106680" y="4974336"/>
                    <a:pt x="0" y="4867656"/>
                    <a:pt x="0" y="4735957"/>
                  </a:cubicBezTo>
                  <a:close/>
                </a:path>
              </a:pathLst>
            </a:custGeom>
            <a:solidFill>
              <a:srgbClr val="1A3A52">
                <a:alpha val="90196"/>
              </a:srgbClr>
            </a:solidFill>
          </p:spPr>
        </p:sp>
      </p:grpSp>
      <p:sp>
        <p:nvSpPr>
          <p:cNvPr name="TextBox 29" id="29"/>
          <p:cNvSpPr txBox="true"/>
          <p:nvPr/>
        </p:nvSpPr>
        <p:spPr>
          <a:xfrm rot="0">
            <a:off x="11224774" y="5369623"/>
            <a:ext cx="6024058" cy="435940"/>
          </a:xfrm>
          <a:prstGeom prst="rect">
            <a:avLst/>
          </a:prstGeom>
        </p:spPr>
        <p:txBody>
          <a:bodyPr anchor="t" rtlCol="false" tIns="0" lIns="0" bIns="0" rIns="0">
            <a:spAutoFit/>
          </a:bodyPr>
          <a:lstStyle/>
          <a:p>
            <a:pPr algn="l">
              <a:lnSpc>
                <a:spcPts val="3184"/>
              </a:lnSpc>
            </a:pPr>
            <a:r>
              <a:rPr lang="en-US" sz="2551" b="true">
                <a:solidFill>
                  <a:srgbClr val="FFFFFF"/>
                </a:solidFill>
                <a:latin typeface="Petrona Bold"/>
                <a:ea typeface="Petrona Bold"/>
                <a:cs typeface="Petrona Bold"/>
                <a:sym typeface="Petrona Bold"/>
              </a:rPr>
              <a:t>Lab Scope</a:t>
            </a:r>
          </a:p>
        </p:txBody>
      </p:sp>
      <p:sp>
        <p:nvSpPr>
          <p:cNvPr name="TextBox 30" id="30"/>
          <p:cNvSpPr txBox="true"/>
          <p:nvPr/>
        </p:nvSpPr>
        <p:spPr>
          <a:xfrm rot="0">
            <a:off x="11224774" y="5967974"/>
            <a:ext cx="6024058" cy="2330729"/>
          </a:xfrm>
          <a:prstGeom prst="rect">
            <a:avLst/>
          </a:prstGeom>
        </p:spPr>
        <p:txBody>
          <a:bodyPr anchor="t" rtlCol="false" tIns="0" lIns="0" bIns="0" rIns="0">
            <a:spAutoFit/>
          </a:bodyPr>
          <a:lstStyle/>
          <a:p>
            <a:pPr algn="l" marL="353452" indent="-176726" lvl="1">
              <a:lnSpc>
                <a:spcPts val="3114"/>
              </a:lnSpc>
              <a:buFont typeface="Arial"/>
              <a:buChar char="•"/>
            </a:pPr>
            <a:r>
              <a:rPr lang="en-US" sz="1951">
                <a:solidFill>
                  <a:srgbClr val="FFFFFF"/>
                </a:solidFill>
                <a:latin typeface="Inter"/>
                <a:ea typeface="Inter"/>
                <a:cs typeface="Inter"/>
                <a:sym typeface="Inter"/>
              </a:rPr>
              <a:t>Custom TCP session protocol with FTP-style reply codes</a:t>
            </a:r>
          </a:p>
          <a:p>
            <a:pPr algn="l" marL="353452" indent="-176726" lvl="1">
              <a:lnSpc>
                <a:spcPts val="3114"/>
              </a:lnSpc>
              <a:buFont typeface="Arial"/>
              <a:buChar char="•"/>
            </a:pPr>
            <a:r>
              <a:rPr lang="en-US" sz="1951">
                <a:solidFill>
                  <a:srgbClr val="FFFFFF"/>
                </a:solidFill>
                <a:latin typeface="Inter"/>
                <a:ea typeface="Inter"/>
                <a:cs typeface="Inter"/>
                <a:sym typeface="Inter"/>
              </a:rPr>
              <a:t>FastAPI middleware bridging HTTP </a:t>
            </a:r>
            <a:r>
              <a:rPr lang="en-US" sz="1951">
                <a:solidFill>
                  <a:srgbClr val="000000"/>
                </a:solidFill>
                <a:latin typeface="Inter"/>
                <a:ea typeface="Inter"/>
                <a:cs typeface="Inter"/>
                <a:sym typeface="Inter"/>
              </a:rPr>
              <a:t>↔</a:t>
            </a:r>
            <a:r>
              <a:rPr lang="en-US" sz="1951">
                <a:solidFill>
                  <a:srgbClr val="FFFFFF"/>
                </a:solidFill>
                <a:latin typeface="Inter"/>
                <a:ea typeface="Inter"/>
                <a:cs typeface="Inter"/>
                <a:sym typeface="Inter"/>
              </a:rPr>
              <a:t> TCP</a:t>
            </a:r>
          </a:p>
          <a:p>
            <a:pPr algn="l" marL="353452" indent="-176726" lvl="1">
              <a:lnSpc>
                <a:spcPts val="3114"/>
              </a:lnSpc>
              <a:buFont typeface="Arial"/>
              <a:buChar char="•"/>
            </a:pPr>
            <a:r>
              <a:rPr lang="en-US" sz="1951">
                <a:solidFill>
                  <a:srgbClr val="FFFFFF"/>
                </a:solidFill>
                <a:latin typeface="Inter"/>
                <a:ea typeface="Inter"/>
                <a:cs typeface="Inter"/>
                <a:sym typeface="Inter"/>
              </a:rPr>
              <a:t>React console with live WebSocket progress</a:t>
            </a:r>
          </a:p>
          <a:p>
            <a:pPr algn="l" marL="353452" indent="-176726" lvl="1">
              <a:lnSpc>
                <a:spcPts val="3114"/>
              </a:lnSpc>
              <a:buFont typeface="Arial"/>
              <a:buChar char="•"/>
            </a:pPr>
            <a:r>
              <a:rPr lang="en-US" sz="1951">
                <a:solidFill>
                  <a:srgbClr val="FFFFFF"/>
                </a:solidFill>
                <a:latin typeface="Inter"/>
                <a:ea typeface="Inter"/>
                <a:cs typeface="Inter"/>
                <a:sym typeface="Inter"/>
              </a:rPr>
              <a:t>Per-user filesystem sandbox with bcrypt auth</a:t>
            </a:r>
          </a:p>
          <a:p>
            <a:pPr algn="l" marL="353452" indent="-176726" lvl="1">
              <a:lnSpc>
                <a:spcPts val="3114"/>
              </a:lnSpc>
              <a:buFont typeface="Arial"/>
              <a:buChar char="•"/>
            </a:pPr>
            <a:r>
              <a:rPr lang="en-US" sz="1951">
                <a:solidFill>
                  <a:srgbClr val="FFFFFF"/>
                </a:solidFill>
                <a:latin typeface="Inter"/>
                <a:ea typeface="Inter"/>
                <a:cs typeface="Inter"/>
                <a:sym typeface="Inter"/>
              </a:rPr>
              <a:t>Full packet visibility, no TLS by design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descr="preencoded.png"/>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lnTo>
                    <a:pt x="0" y="0"/>
                  </a:lnTo>
                  <a:close/>
                </a:path>
              </a:pathLst>
            </a:custGeom>
            <a:blipFill>
              <a:blip r:embed="rId3"/>
              <a:stretch>
                <a:fillRect l="-1" t="0" r="-1" b="0"/>
              </a:stretch>
            </a:blip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alpha val="90196"/>
              </a:srgbClr>
            </a:solidFill>
          </p:spPr>
        </p:sp>
      </p:grpSp>
      <p:sp>
        <p:nvSpPr>
          <p:cNvPr name="TextBox 6" id="6"/>
          <p:cNvSpPr txBox="true"/>
          <p:nvPr/>
        </p:nvSpPr>
        <p:spPr>
          <a:xfrm rot="0">
            <a:off x="992991" y="792261"/>
            <a:ext cx="16315868" cy="598732"/>
          </a:xfrm>
          <a:prstGeom prst="rect">
            <a:avLst/>
          </a:prstGeom>
        </p:spPr>
        <p:txBody>
          <a:bodyPr anchor="t" rtlCol="false" tIns="0" lIns="0" bIns="0" rIns="0">
            <a:spAutoFit/>
          </a:bodyPr>
          <a:lstStyle/>
          <a:p>
            <a:pPr algn="l">
              <a:lnSpc>
                <a:spcPts val="4402"/>
              </a:lnSpc>
            </a:pPr>
            <a:r>
              <a:rPr lang="en-US" sz="3527" b="true">
                <a:solidFill>
                  <a:srgbClr val="000000"/>
                </a:solidFill>
                <a:latin typeface="Petrona Bold"/>
                <a:ea typeface="Petrona Bold"/>
                <a:cs typeface="Petrona Bold"/>
                <a:sym typeface="Petrona Bold"/>
              </a:rPr>
              <a:t>System Architecture: Two Hops</a:t>
            </a:r>
          </a:p>
        </p:txBody>
      </p:sp>
      <p:grpSp>
        <p:nvGrpSpPr>
          <p:cNvPr name="Group 7" id="7"/>
          <p:cNvGrpSpPr/>
          <p:nvPr/>
        </p:nvGrpSpPr>
        <p:grpSpPr>
          <a:xfrm rot="0">
            <a:off x="5293500" y="1634223"/>
            <a:ext cx="7714688" cy="5219309"/>
            <a:chOff x="0" y="0"/>
            <a:chExt cx="10286251" cy="6959079"/>
          </a:xfrm>
        </p:grpSpPr>
        <p:sp>
          <p:nvSpPr>
            <p:cNvPr name="Freeform 8" id="8" descr="preencoded.png"/>
            <p:cNvSpPr/>
            <p:nvPr/>
          </p:nvSpPr>
          <p:spPr>
            <a:xfrm flipH="false" flipV="false" rot="0">
              <a:off x="0" y="0"/>
              <a:ext cx="10286238" cy="6959092"/>
            </a:xfrm>
            <a:custGeom>
              <a:avLst/>
              <a:gdLst/>
              <a:ahLst/>
              <a:cxnLst/>
              <a:rect r="r" b="b" t="t" l="l"/>
              <a:pathLst>
                <a:path h="6959092" w="10286238">
                  <a:moveTo>
                    <a:pt x="0" y="0"/>
                  </a:moveTo>
                  <a:lnTo>
                    <a:pt x="10286238" y="0"/>
                  </a:lnTo>
                  <a:lnTo>
                    <a:pt x="10286238" y="6959092"/>
                  </a:lnTo>
                  <a:lnTo>
                    <a:pt x="0" y="6959092"/>
                  </a:lnTo>
                  <a:lnTo>
                    <a:pt x="0" y="0"/>
                  </a:lnTo>
                  <a:close/>
                </a:path>
              </a:pathLst>
            </a:custGeom>
            <a:blipFill>
              <a:blip r:embed="rId4"/>
              <a:stretch>
                <a:fillRect l="0" t="0" r="0" b="0"/>
              </a:stretch>
            </a:blipFill>
          </p:spPr>
        </p:sp>
      </p:grpSp>
      <p:sp>
        <p:nvSpPr>
          <p:cNvPr name="TextBox 9" id="9"/>
          <p:cNvSpPr txBox="true"/>
          <p:nvPr/>
        </p:nvSpPr>
        <p:spPr>
          <a:xfrm rot="0">
            <a:off x="8430158" y="3802590"/>
            <a:ext cx="1404785" cy="693620"/>
          </a:xfrm>
          <a:prstGeom prst="rect">
            <a:avLst/>
          </a:prstGeom>
        </p:spPr>
        <p:txBody>
          <a:bodyPr anchor="t" rtlCol="false" tIns="0" lIns="0" bIns="0" rIns="0">
            <a:spAutoFit/>
          </a:bodyPr>
          <a:lstStyle/>
          <a:p>
            <a:pPr algn="ctr">
              <a:lnSpc>
                <a:spcPts val="2622"/>
              </a:lnSpc>
            </a:pPr>
            <a:r>
              <a:rPr lang="en-US" sz="2101" b="true">
                <a:solidFill>
                  <a:srgbClr val="FFFFFF"/>
                </a:solidFill>
                <a:latin typeface="Petrona Bold"/>
                <a:ea typeface="Petrona Bold"/>
                <a:cs typeface="Petrona Bold"/>
                <a:sym typeface="Petrona Bold"/>
              </a:rPr>
              <a:t>Two-hop Data Path</a:t>
            </a:r>
          </a:p>
        </p:txBody>
      </p:sp>
      <p:sp>
        <p:nvSpPr>
          <p:cNvPr name="TextBox 10" id="10"/>
          <p:cNvSpPr txBox="true"/>
          <p:nvPr/>
        </p:nvSpPr>
        <p:spPr>
          <a:xfrm rot="0">
            <a:off x="10529668" y="5334476"/>
            <a:ext cx="2089871" cy="356330"/>
          </a:xfrm>
          <a:prstGeom prst="rect">
            <a:avLst/>
          </a:prstGeom>
        </p:spPr>
        <p:txBody>
          <a:bodyPr anchor="t" rtlCol="false" tIns="0" lIns="0" bIns="0" rIns="0">
            <a:spAutoFit/>
          </a:bodyPr>
          <a:lstStyle/>
          <a:p>
            <a:pPr algn="ctr">
              <a:lnSpc>
                <a:spcPts val="2622"/>
              </a:lnSpc>
            </a:pPr>
            <a:r>
              <a:rPr lang="en-US" sz="2101" b="true">
                <a:solidFill>
                  <a:srgbClr val="272525"/>
                </a:solidFill>
                <a:latin typeface="Petrona Bold"/>
                <a:ea typeface="Petrona Bold"/>
                <a:cs typeface="Petrona Bold"/>
                <a:sym typeface="Petrona Bold"/>
              </a:rPr>
              <a:t>FastAPI :8000</a:t>
            </a:r>
          </a:p>
        </p:txBody>
      </p:sp>
      <p:sp>
        <p:nvSpPr>
          <p:cNvPr name="TextBox 11" id="11"/>
          <p:cNvSpPr txBox="true"/>
          <p:nvPr/>
        </p:nvSpPr>
        <p:spPr>
          <a:xfrm rot="0">
            <a:off x="10529668" y="5801230"/>
            <a:ext cx="2089871" cy="417814"/>
          </a:xfrm>
          <a:prstGeom prst="rect">
            <a:avLst/>
          </a:prstGeom>
        </p:spPr>
        <p:txBody>
          <a:bodyPr anchor="t" rtlCol="false" tIns="0" lIns="0" bIns="0" rIns="0">
            <a:spAutoFit/>
          </a:bodyPr>
          <a:lstStyle/>
          <a:p>
            <a:pPr algn="ctr">
              <a:lnSpc>
                <a:spcPts val="1683"/>
              </a:lnSpc>
            </a:pPr>
            <a:r>
              <a:rPr lang="en-US" sz="1576">
                <a:solidFill>
                  <a:srgbClr val="272525"/>
                </a:solidFill>
                <a:latin typeface="Inter"/>
                <a:ea typeface="Inter"/>
                <a:cs typeface="Inter"/>
                <a:sym typeface="Inter"/>
              </a:rPr>
              <a:t>Opens short-lived TCP session</a:t>
            </a:r>
          </a:p>
        </p:txBody>
      </p:sp>
      <p:sp>
        <p:nvSpPr>
          <p:cNvPr name="TextBox 12" id="12"/>
          <p:cNvSpPr txBox="true"/>
          <p:nvPr/>
        </p:nvSpPr>
        <p:spPr>
          <a:xfrm rot="0">
            <a:off x="5632009" y="5334476"/>
            <a:ext cx="2089871" cy="356330"/>
          </a:xfrm>
          <a:prstGeom prst="rect">
            <a:avLst/>
          </a:prstGeom>
        </p:spPr>
        <p:txBody>
          <a:bodyPr anchor="t" rtlCol="false" tIns="0" lIns="0" bIns="0" rIns="0">
            <a:spAutoFit/>
          </a:bodyPr>
          <a:lstStyle/>
          <a:p>
            <a:pPr algn="ctr">
              <a:lnSpc>
                <a:spcPts val="2622"/>
              </a:lnSpc>
            </a:pPr>
            <a:r>
              <a:rPr lang="en-US" sz="2101" b="true">
                <a:solidFill>
                  <a:srgbClr val="272525"/>
                </a:solidFill>
                <a:latin typeface="Petrona Bold"/>
                <a:ea typeface="Petrona Bold"/>
                <a:cs typeface="Petrona Bold"/>
                <a:sym typeface="Petrona Bold"/>
              </a:rPr>
              <a:t>TCP Server :2121</a:t>
            </a:r>
          </a:p>
        </p:txBody>
      </p:sp>
      <p:sp>
        <p:nvSpPr>
          <p:cNvPr name="TextBox 13" id="13"/>
          <p:cNvSpPr txBox="true"/>
          <p:nvPr/>
        </p:nvSpPr>
        <p:spPr>
          <a:xfrm rot="0">
            <a:off x="5632009" y="5801230"/>
            <a:ext cx="2089871" cy="417814"/>
          </a:xfrm>
          <a:prstGeom prst="rect">
            <a:avLst/>
          </a:prstGeom>
        </p:spPr>
        <p:txBody>
          <a:bodyPr anchor="t" rtlCol="false" tIns="0" lIns="0" bIns="0" rIns="0">
            <a:spAutoFit/>
          </a:bodyPr>
          <a:lstStyle/>
          <a:p>
            <a:pPr algn="ctr">
              <a:lnSpc>
                <a:spcPts val="1683"/>
              </a:lnSpc>
            </a:pPr>
            <a:r>
              <a:rPr lang="en-US" sz="1576">
                <a:solidFill>
                  <a:srgbClr val="272525"/>
                </a:solidFill>
                <a:latin typeface="Inter"/>
                <a:ea typeface="Inter"/>
                <a:cs typeface="Inter"/>
                <a:sym typeface="Inter"/>
              </a:rPr>
              <a:t>Handles protocol commands and auth</a:t>
            </a:r>
          </a:p>
        </p:txBody>
      </p:sp>
      <p:sp>
        <p:nvSpPr>
          <p:cNvPr name="TextBox 14" id="14"/>
          <p:cNvSpPr txBox="true"/>
          <p:nvPr/>
        </p:nvSpPr>
        <p:spPr>
          <a:xfrm rot="0">
            <a:off x="5632009" y="2130085"/>
            <a:ext cx="2089871" cy="356340"/>
          </a:xfrm>
          <a:prstGeom prst="rect">
            <a:avLst/>
          </a:prstGeom>
        </p:spPr>
        <p:txBody>
          <a:bodyPr anchor="t" rtlCol="false" tIns="0" lIns="0" bIns="0" rIns="0">
            <a:spAutoFit/>
          </a:bodyPr>
          <a:lstStyle/>
          <a:p>
            <a:pPr algn="ctr">
              <a:lnSpc>
                <a:spcPts val="2622"/>
              </a:lnSpc>
            </a:pPr>
            <a:r>
              <a:rPr lang="en-US" sz="2101" b="true">
                <a:solidFill>
                  <a:srgbClr val="272525"/>
                </a:solidFill>
                <a:latin typeface="Petrona Bold"/>
                <a:ea typeface="Petrona Bold"/>
                <a:cs typeface="Petrona Bold"/>
                <a:sym typeface="Petrona Bold"/>
              </a:rPr>
              <a:t>Storage</a:t>
            </a:r>
          </a:p>
        </p:txBody>
      </p:sp>
      <p:sp>
        <p:nvSpPr>
          <p:cNvPr name="TextBox 15" id="15"/>
          <p:cNvSpPr txBox="true"/>
          <p:nvPr/>
        </p:nvSpPr>
        <p:spPr>
          <a:xfrm rot="0">
            <a:off x="5632009" y="2596839"/>
            <a:ext cx="2089871" cy="636251"/>
          </a:xfrm>
          <a:prstGeom prst="rect">
            <a:avLst/>
          </a:prstGeom>
        </p:spPr>
        <p:txBody>
          <a:bodyPr anchor="t" rtlCol="false" tIns="0" lIns="0" bIns="0" rIns="0">
            <a:spAutoFit/>
          </a:bodyPr>
          <a:lstStyle/>
          <a:p>
            <a:pPr algn="ctr">
              <a:lnSpc>
                <a:spcPts val="1683"/>
              </a:lnSpc>
            </a:pPr>
            <a:r>
              <a:rPr lang="en-US" sz="1576">
                <a:solidFill>
                  <a:srgbClr val="272525"/>
                </a:solidFill>
                <a:latin typeface="Inter"/>
                <a:ea typeface="Inter"/>
                <a:cs typeface="Inter"/>
                <a:sym typeface="Inter"/>
              </a:rPr>
              <a:t>Filesystem users/account/ with SQLite metadata</a:t>
            </a:r>
          </a:p>
        </p:txBody>
      </p:sp>
      <p:sp>
        <p:nvSpPr>
          <p:cNvPr name="TextBox 16" id="16"/>
          <p:cNvSpPr txBox="true"/>
          <p:nvPr/>
        </p:nvSpPr>
        <p:spPr>
          <a:xfrm rot="0">
            <a:off x="10543051" y="2239299"/>
            <a:ext cx="2089871" cy="356330"/>
          </a:xfrm>
          <a:prstGeom prst="rect">
            <a:avLst/>
          </a:prstGeom>
        </p:spPr>
        <p:txBody>
          <a:bodyPr anchor="t" rtlCol="false" tIns="0" lIns="0" bIns="0" rIns="0">
            <a:spAutoFit/>
          </a:bodyPr>
          <a:lstStyle/>
          <a:p>
            <a:pPr algn="ctr">
              <a:lnSpc>
                <a:spcPts val="2622"/>
              </a:lnSpc>
            </a:pPr>
            <a:r>
              <a:rPr lang="en-US" sz="2101" b="true">
                <a:solidFill>
                  <a:srgbClr val="272525"/>
                </a:solidFill>
                <a:latin typeface="Petrona Bold"/>
                <a:ea typeface="Petrona Bold"/>
                <a:cs typeface="Petrona Bold"/>
                <a:sym typeface="Petrona Bold"/>
              </a:rPr>
              <a:t>Browser :3000</a:t>
            </a:r>
          </a:p>
        </p:txBody>
      </p:sp>
      <p:sp>
        <p:nvSpPr>
          <p:cNvPr name="TextBox 17" id="17"/>
          <p:cNvSpPr txBox="true"/>
          <p:nvPr/>
        </p:nvSpPr>
        <p:spPr>
          <a:xfrm rot="0">
            <a:off x="10543051" y="2706062"/>
            <a:ext cx="2089871" cy="417814"/>
          </a:xfrm>
          <a:prstGeom prst="rect">
            <a:avLst/>
          </a:prstGeom>
        </p:spPr>
        <p:txBody>
          <a:bodyPr anchor="t" rtlCol="false" tIns="0" lIns="0" bIns="0" rIns="0">
            <a:spAutoFit/>
          </a:bodyPr>
          <a:lstStyle/>
          <a:p>
            <a:pPr algn="ctr">
              <a:lnSpc>
                <a:spcPts val="1683"/>
              </a:lnSpc>
            </a:pPr>
            <a:r>
              <a:rPr lang="en-US" sz="1576">
                <a:solidFill>
                  <a:srgbClr val="272525"/>
                </a:solidFill>
                <a:latin typeface="Inter"/>
                <a:ea typeface="Inter"/>
                <a:cs typeface="Inter"/>
                <a:sym typeface="Inter"/>
              </a:rPr>
              <a:t>Sends HTTP /api and WS /ws/transfers</a:t>
            </a:r>
          </a:p>
        </p:txBody>
      </p:sp>
      <p:sp>
        <p:nvSpPr>
          <p:cNvPr name="Freeform 18" id="18" descr="preencoded.png"/>
          <p:cNvSpPr/>
          <p:nvPr/>
        </p:nvSpPr>
        <p:spPr>
          <a:xfrm flipH="false" flipV="false" rot="0">
            <a:off x="992991" y="7126996"/>
            <a:ext cx="3912232" cy="2210486"/>
          </a:xfrm>
          <a:custGeom>
            <a:avLst/>
            <a:gdLst/>
            <a:ahLst/>
            <a:cxnLst/>
            <a:rect r="r" b="b" t="t" l="l"/>
            <a:pathLst>
              <a:path h="2210486" w="3912232">
                <a:moveTo>
                  <a:pt x="0" y="0"/>
                </a:moveTo>
                <a:lnTo>
                  <a:pt x="3912232" y="0"/>
                </a:lnTo>
                <a:lnTo>
                  <a:pt x="3912232" y="2210485"/>
                </a:lnTo>
                <a:lnTo>
                  <a:pt x="0" y="2210485"/>
                </a:lnTo>
                <a:lnTo>
                  <a:pt x="0" y="0"/>
                </a:lnTo>
                <a:close/>
              </a:path>
            </a:pathLst>
          </a:custGeom>
          <a:blipFill>
            <a:blip r:embed="rId5">
              <a:extLst>
                <a:ext uri="{96DAC541-7B7A-43D3-8B79-37D633B846F1}">
                  <asvg:svgBlip xmlns:asvg="http://schemas.microsoft.com/office/drawing/2016/SVG/main" r:embed="rId6"/>
                </a:ext>
              </a:extLst>
            </a:blip>
            <a:stretch>
              <a:fillRect l="0" t="-45" r="0" b="-45"/>
            </a:stretch>
          </a:blipFill>
        </p:spPr>
      </p:sp>
      <p:sp>
        <p:nvSpPr>
          <p:cNvPr name="TextBox 19" id="19"/>
          <p:cNvSpPr txBox="true"/>
          <p:nvPr/>
        </p:nvSpPr>
        <p:spPr>
          <a:xfrm rot="0">
            <a:off x="1261977" y="7300674"/>
            <a:ext cx="3450507" cy="304276"/>
          </a:xfrm>
          <a:prstGeom prst="rect">
            <a:avLst/>
          </a:prstGeom>
        </p:spPr>
        <p:txBody>
          <a:bodyPr anchor="t" rtlCol="false" tIns="0" lIns="0" bIns="0" rIns="0">
            <a:spAutoFit/>
          </a:bodyPr>
          <a:lstStyle/>
          <a:p>
            <a:pPr algn="l">
              <a:lnSpc>
                <a:spcPts val="2154"/>
              </a:lnSpc>
            </a:pPr>
            <a:r>
              <a:rPr lang="en-US" sz="1726" b="true">
                <a:solidFill>
                  <a:srgbClr val="272525"/>
                </a:solidFill>
                <a:latin typeface="Petrona Bold"/>
                <a:ea typeface="Petrona Bold"/>
                <a:cs typeface="Petrona Bold"/>
                <a:sym typeface="Petrona Bold"/>
              </a:rPr>
              <a:t>Control Plane</a:t>
            </a:r>
          </a:p>
        </p:txBody>
      </p:sp>
      <p:sp>
        <p:nvSpPr>
          <p:cNvPr name="TextBox 20" id="20"/>
          <p:cNvSpPr txBox="true"/>
          <p:nvPr/>
        </p:nvSpPr>
        <p:spPr>
          <a:xfrm rot="0">
            <a:off x="1261977" y="7707449"/>
            <a:ext cx="3450507" cy="1437303"/>
          </a:xfrm>
          <a:prstGeom prst="rect">
            <a:avLst/>
          </a:prstGeom>
        </p:spPr>
        <p:txBody>
          <a:bodyPr anchor="t" rtlCol="false" tIns="0" lIns="0" bIns="0" rIns="0">
            <a:spAutoFit/>
          </a:bodyPr>
          <a:lstStyle/>
          <a:p>
            <a:pPr algn="l">
              <a:lnSpc>
                <a:spcPts val="1832"/>
              </a:lnSpc>
            </a:pPr>
            <a:r>
              <a:rPr lang="en-US" sz="1351">
                <a:solidFill>
                  <a:srgbClr val="272525"/>
                </a:solidFill>
                <a:latin typeface="Inter"/>
                <a:ea typeface="Inter"/>
                <a:cs typeface="Inter"/>
                <a:sym typeface="Inter"/>
              </a:rPr>
              <a:t>FastAPI opens a </a:t>
            </a:r>
            <a:r>
              <a:rPr lang="en-US" sz="1351" b="true">
                <a:solidFill>
                  <a:srgbClr val="272525"/>
                </a:solidFill>
                <a:latin typeface="Inter Bold"/>
                <a:ea typeface="Inter Bold"/>
                <a:cs typeface="Inter Bold"/>
                <a:sym typeface="Inter Bold"/>
              </a:rPr>
              <a:t>short-lived TCP session</a:t>
            </a:r>
            <a:r>
              <a:rPr lang="en-US" sz="1351">
                <a:solidFill>
                  <a:srgbClr val="272525"/>
                </a:solidFill>
                <a:latin typeface="Inter"/>
                <a:ea typeface="Inter"/>
                <a:cs typeface="Inter"/>
                <a:sym typeface="Inter"/>
              </a:rPr>
              <a:t> on port 2121 for each upload or download. The session is AUTH'd, the command issued, bytes transferred, and the connection closed — one file per TCP lifetime.</a:t>
            </a:r>
          </a:p>
        </p:txBody>
      </p:sp>
      <p:sp>
        <p:nvSpPr>
          <p:cNvPr name="Freeform 21" id="21" descr="preencoded.png"/>
          <p:cNvSpPr/>
          <p:nvPr/>
        </p:nvSpPr>
        <p:spPr>
          <a:xfrm flipH="false" flipV="false" rot="0">
            <a:off x="5026752" y="7126996"/>
            <a:ext cx="3912232" cy="2210486"/>
          </a:xfrm>
          <a:custGeom>
            <a:avLst/>
            <a:gdLst/>
            <a:ahLst/>
            <a:cxnLst/>
            <a:rect r="r" b="b" t="t" l="l"/>
            <a:pathLst>
              <a:path h="2210486" w="3912232">
                <a:moveTo>
                  <a:pt x="0" y="0"/>
                </a:moveTo>
                <a:lnTo>
                  <a:pt x="3912232" y="0"/>
                </a:lnTo>
                <a:lnTo>
                  <a:pt x="3912232" y="2210485"/>
                </a:lnTo>
                <a:lnTo>
                  <a:pt x="0" y="2210485"/>
                </a:lnTo>
                <a:lnTo>
                  <a:pt x="0" y="0"/>
                </a:lnTo>
                <a:close/>
              </a:path>
            </a:pathLst>
          </a:custGeom>
          <a:blipFill>
            <a:blip r:embed="rId5">
              <a:extLst>
                <a:ext uri="{96DAC541-7B7A-43D3-8B79-37D633B846F1}">
                  <asvg:svgBlip xmlns:asvg="http://schemas.microsoft.com/office/drawing/2016/SVG/main" r:embed="rId6"/>
                </a:ext>
              </a:extLst>
            </a:blip>
            <a:stretch>
              <a:fillRect l="0" t="-45" r="0" b="-45"/>
            </a:stretch>
          </a:blipFill>
        </p:spPr>
      </p:sp>
      <p:sp>
        <p:nvSpPr>
          <p:cNvPr name="TextBox 22" id="22"/>
          <p:cNvSpPr txBox="true"/>
          <p:nvPr/>
        </p:nvSpPr>
        <p:spPr>
          <a:xfrm rot="0">
            <a:off x="5295738" y="7300674"/>
            <a:ext cx="3450507" cy="304276"/>
          </a:xfrm>
          <a:prstGeom prst="rect">
            <a:avLst/>
          </a:prstGeom>
        </p:spPr>
        <p:txBody>
          <a:bodyPr anchor="t" rtlCol="false" tIns="0" lIns="0" bIns="0" rIns="0">
            <a:spAutoFit/>
          </a:bodyPr>
          <a:lstStyle/>
          <a:p>
            <a:pPr algn="l">
              <a:lnSpc>
                <a:spcPts val="2154"/>
              </a:lnSpc>
            </a:pPr>
            <a:r>
              <a:rPr lang="en-US" sz="1726" b="true">
                <a:solidFill>
                  <a:srgbClr val="272525"/>
                </a:solidFill>
                <a:latin typeface="Petrona Bold"/>
                <a:ea typeface="Petrona Bold"/>
                <a:cs typeface="Petrona Bold"/>
                <a:sym typeface="Petrona Bold"/>
              </a:rPr>
              <a:t>Storage Layer</a:t>
            </a:r>
          </a:p>
        </p:txBody>
      </p:sp>
      <p:sp>
        <p:nvSpPr>
          <p:cNvPr name="TextBox 23" id="23"/>
          <p:cNvSpPr txBox="true"/>
          <p:nvPr/>
        </p:nvSpPr>
        <p:spPr>
          <a:xfrm rot="0">
            <a:off x="5295738" y="7707449"/>
            <a:ext cx="3450507" cy="1200922"/>
          </a:xfrm>
          <a:prstGeom prst="rect">
            <a:avLst/>
          </a:prstGeom>
        </p:spPr>
        <p:txBody>
          <a:bodyPr anchor="t" rtlCol="false" tIns="0" lIns="0" bIns="0" rIns="0">
            <a:spAutoFit/>
          </a:bodyPr>
          <a:lstStyle/>
          <a:p>
            <a:pPr algn="l">
              <a:lnSpc>
                <a:spcPts val="1832"/>
              </a:lnSpc>
            </a:pPr>
            <a:r>
              <a:rPr lang="en-US" sz="1351" b="true">
                <a:solidFill>
                  <a:srgbClr val="272525"/>
                </a:solidFill>
                <a:latin typeface="Inter Bold"/>
                <a:ea typeface="Inter Bold"/>
                <a:cs typeface="Inter Bold"/>
                <a:sym typeface="Inter Bold"/>
              </a:rPr>
              <a:t>SQLite</a:t>
            </a:r>
            <a:r>
              <a:rPr lang="en-US" sz="1351">
                <a:solidFill>
                  <a:srgbClr val="272525"/>
                </a:solidFill>
                <a:latin typeface="Inter"/>
                <a:ea typeface="Inter"/>
                <a:cs typeface="Inter"/>
                <a:sym typeface="Inter"/>
              </a:rPr>
              <a:t> holds file metadata and transfer history. Raw file bytes live on the filesystem under users/&lt;account&gt;/. Both the TCP server and FastAPI share the same directory tree.</a:t>
            </a:r>
          </a:p>
        </p:txBody>
      </p:sp>
      <p:sp>
        <p:nvSpPr>
          <p:cNvPr name="Freeform 24" id="24" descr="preencoded.png"/>
          <p:cNvSpPr/>
          <p:nvPr/>
        </p:nvSpPr>
        <p:spPr>
          <a:xfrm flipH="false" flipV="false" rot="0">
            <a:off x="9372390" y="7126996"/>
            <a:ext cx="3912232" cy="1974113"/>
          </a:xfrm>
          <a:custGeom>
            <a:avLst/>
            <a:gdLst/>
            <a:ahLst/>
            <a:cxnLst/>
            <a:rect r="r" b="b" t="t" l="l"/>
            <a:pathLst>
              <a:path h="1974113" w="3912232">
                <a:moveTo>
                  <a:pt x="0" y="0"/>
                </a:moveTo>
                <a:lnTo>
                  <a:pt x="3912232" y="0"/>
                </a:lnTo>
                <a:lnTo>
                  <a:pt x="3912232" y="1974113"/>
                </a:lnTo>
                <a:lnTo>
                  <a:pt x="0" y="1974113"/>
                </a:lnTo>
                <a:lnTo>
                  <a:pt x="0" y="0"/>
                </a:lnTo>
                <a:close/>
              </a:path>
            </a:pathLst>
          </a:custGeom>
          <a:blipFill>
            <a:blip r:embed="rId7">
              <a:extLst>
                <a:ext uri="{96DAC541-7B7A-43D3-8B79-37D633B846F1}">
                  <asvg:svgBlip xmlns:asvg="http://schemas.microsoft.com/office/drawing/2016/SVG/main" r:embed="rId8"/>
                </a:ext>
              </a:extLst>
            </a:blip>
            <a:stretch>
              <a:fillRect l="0" t="-147" r="0" b="-146"/>
            </a:stretch>
          </a:blipFill>
        </p:spPr>
      </p:sp>
      <p:sp>
        <p:nvSpPr>
          <p:cNvPr name="TextBox 25" id="25"/>
          <p:cNvSpPr txBox="true"/>
          <p:nvPr/>
        </p:nvSpPr>
        <p:spPr>
          <a:xfrm rot="0">
            <a:off x="9641386" y="7300674"/>
            <a:ext cx="3450507" cy="304276"/>
          </a:xfrm>
          <a:prstGeom prst="rect">
            <a:avLst/>
          </a:prstGeom>
        </p:spPr>
        <p:txBody>
          <a:bodyPr anchor="t" rtlCol="false" tIns="0" lIns="0" bIns="0" rIns="0">
            <a:spAutoFit/>
          </a:bodyPr>
          <a:lstStyle/>
          <a:p>
            <a:pPr algn="l">
              <a:lnSpc>
                <a:spcPts val="2154"/>
              </a:lnSpc>
            </a:pPr>
            <a:r>
              <a:rPr lang="en-US" sz="1726" b="true">
                <a:solidFill>
                  <a:srgbClr val="272525"/>
                </a:solidFill>
                <a:latin typeface="Petrona Bold"/>
                <a:ea typeface="Petrona Bold"/>
                <a:cs typeface="Petrona Bold"/>
                <a:sym typeface="Petrona Bold"/>
              </a:rPr>
              <a:t>Same-Origin Proxy</a:t>
            </a:r>
          </a:p>
        </p:txBody>
      </p:sp>
      <p:sp>
        <p:nvSpPr>
          <p:cNvPr name="TextBox 26" id="26"/>
          <p:cNvSpPr txBox="true"/>
          <p:nvPr/>
        </p:nvSpPr>
        <p:spPr>
          <a:xfrm rot="0">
            <a:off x="9641386" y="7707449"/>
            <a:ext cx="3450507" cy="964549"/>
          </a:xfrm>
          <a:prstGeom prst="rect">
            <a:avLst/>
          </a:prstGeom>
        </p:spPr>
        <p:txBody>
          <a:bodyPr anchor="t" rtlCol="false" tIns="0" lIns="0" bIns="0" rIns="0">
            <a:spAutoFit/>
          </a:bodyPr>
          <a:lstStyle/>
          <a:p>
            <a:pPr algn="l">
              <a:lnSpc>
                <a:spcPts val="1832"/>
              </a:lnSpc>
            </a:pPr>
            <a:r>
              <a:rPr lang="en-US" sz="1351">
                <a:solidFill>
                  <a:srgbClr val="272525"/>
                </a:solidFill>
                <a:latin typeface="Inter"/>
                <a:ea typeface="Inter"/>
                <a:cs typeface="Inter"/>
                <a:sym typeface="Inter"/>
              </a:rPr>
              <a:t>Vite dev server proxies /api and /ws routes to port 8000, so the browser treats both the static UI and the API as a single origin — no CORS complexity.</a:t>
            </a:r>
          </a:p>
        </p:txBody>
      </p:sp>
      <p:sp>
        <p:nvSpPr>
          <p:cNvPr name="Freeform 27" id="27" descr="preencoded.png"/>
          <p:cNvSpPr/>
          <p:nvPr/>
        </p:nvSpPr>
        <p:spPr>
          <a:xfrm flipH="false" flipV="false" rot="0">
            <a:off x="13406161" y="7126996"/>
            <a:ext cx="3912232" cy="1974113"/>
          </a:xfrm>
          <a:custGeom>
            <a:avLst/>
            <a:gdLst/>
            <a:ahLst/>
            <a:cxnLst/>
            <a:rect r="r" b="b" t="t" l="l"/>
            <a:pathLst>
              <a:path h="1974113" w="3912232">
                <a:moveTo>
                  <a:pt x="0" y="0"/>
                </a:moveTo>
                <a:lnTo>
                  <a:pt x="3912232" y="0"/>
                </a:lnTo>
                <a:lnTo>
                  <a:pt x="3912232" y="1974113"/>
                </a:lnTo>
                <a:lnTo>
                  <a:pt x="0" y="1974113"/>
                </a:lnTo>
                <a:lnTo>
                  <a:pt x="0" y="0"/>
                </a:lnTo>
                <a:close/>
              </a:path>
            </a:pathLst>
          </a:custGeom>
          <a:blipFill>
            <a:blip r:embed="rId7">
              <a:extLst>
                <a:ext uri="{96DAC541-7B7A-43D3-8B79-37D633B846F1}">
                  <asvg:svgBlip xmlns:asvg="http://schemas.microsoft.com/office/drawing/2016/SVG/main" r:embed="rId8"/>
                </a:ext>
              </a:extLst>
            </a:blip>
            <a:stretch>
              <a:fillRect l="0" t="-147" r="0" b="-146"/>
            </a:stretch>
          </a:blipFill>
        </p:spPr>
      </p:sp>
      <p:sp>
        <p:nvSpPr>
          <p:cNvPr name="TextBox 28" id="28"/>
          <p:cNvSpPr txBox="true"/>
          <p:nvPr/>
        </p:nvSpPr>
        <p:spPr>
          <a:xfrm rot="0">
            <a:off x="13675147" y="7300674"/>
            <a:ext cx="3450507" cy="304276"/>
          </a:xfrm>
          <a:prstGeom prst="rect">
            <a:avLst/>
          </a:prstGeom>
        </p:spPr>
        <p:txBody>
          <a:bodyPr anchor="t" rtlCol="false" tIns="0" lIns="0" bIns="0" rIns="0">
            <a:spAutoFit/>
          </a:bodyPr>
          <a:lstStyle/>
          <a:p>
            <a:pPr algn="l">
              <a:lnSpc>
                <a:spcPts val="2154"/>
              </a:lnSpc>
            </a:pPr>
            <a:r>
              <a:rPr lang="en-US" sz="1726" b="true">
                <a:solidFill>
                  <a:srgbClr val="272525"/>
                </a:solidFill>
                <a:latin typeface="Petrona Bold"/>
                <a:ea typeface="Petrona Bold"/>
                <a:cs typeface="Petrona Bold"/>
                <a:sym typeface="Petrona Bold"/>
              </a:rPr>
              <a:t>Two-Hop Data Path</a:t>
            </a:r>
          </a:p>
        </p:txBody>
      </p:sp>
      <p:sp>
        <p:nvSpPr>
          <p:cNvPr name="TextBox 29" id="29"/>
          <p:cNvSpPr txBox="true"/>
          <p:nvPr/>
        </p:nvSpPr>
        <p:spPr>
          <a:xfrm rot="0">
            <a:off x="13675147" y="7707449"/>
            <a:ext cx="3450507" cy="1200922"/>
          </a:xfrm>
          <a:prstGeom prst="rect">
            <a:avLst/>
          </a:prstGeom>
        </p:spPr>
        <p:txBody>
          <a:bodyPr anchor="t" rtlCol="false" tIns="0" lIns="0" bIns="0" rIns="0">
            <a:spAutoFit/>
          </a:bodyPr>
          <a:lstStyle/>
          <a:p>
            <a:pPr algn="l">
              <a:lnSpc>
                <a:spcPts val="1832"/>
              </a:lnSpc>
            </a:pPr>
            <a:r>
              <a:rPr lang="en-US" sz="1351">
                <a:solidFill>
                  <a:srgbClr val="272525"/>
                </a:solidFill>
                <a:latin typeface="Inter"/>
                <a:ea typeface="Inter"/>
                <a:cs typeface="Inter"/>
                <a:sym typeface="Inter"/>
              </a:rPr>
              <a:t>File bytes travel </a:t>
            </a:r>
            <a:r>
              <a:rPr lang="en-US" sz="1351" b="true">
                <a:solidFill>
                  <a:srgbClr val="272525"/>
                </a:solidFill>
                <a:latin typeface="Inter Bold"/>
                <a:ea typeface="Inter Bold"/>
                <a:cs typeface="Inter Bold"/>
                <a:sym typeface="Inter Bold"/>
              </a:rPr>
              <a:t>Browser → FastAPI → TCP Server → Storage</a:t>
            </a:r>
            <a:r>
              <a:rPr lang="en-US" sz="1351">
                <a:solidFill>
                  <a:srgbClr val="272525"/>
                </a:solidFill>
                <a:latin typeface="Inter"/>
                <a:ea typeface="Inter"/>
                <a:cs typeface="Inter"/>
                <a:sym typeface="Inter"/>
              </a:rPr>
              <a:t> on upload, and the reverse on download. The HTTP hop and the TCP hop are both visible in Wireshark on their respective ports.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descr="preencoded.png"/>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lnTo>
                    <a:pt x="0" y="0"/>
                  </a:lnTo>
                  <a:close/>
                </a:path>
              </a:pathLst>
            </a:custGeom>
            <a:blipFill>
              <a:blip r:embed="rId3"/>
              <a:stretch>
                <a:fillRect l="-1" t="0" r="-1" b="0"/>
              </a:stretch>
            </a:blip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alpha val="90196"/>
              </a:srgbClr>
            </a:solidFill>
          </p:spPr>
        </p:sp>
      </p:grpSp>
      <p:sp>
        <p:nvSpPr>
          <p:cNvPr name="TextBox 6" id="6"/>
          <p:cNvSpPr txBox="true"/>
          <p:nvPr/>
        </p:nvSpPr>
        <p:spPr>
          <a:xfrm rot="0">
            <a:off x="992991" y="884453"/>
            <a:ext cx="16315868" cy="720871"/>
          </a:xfrm>
          <a:prstGeom prst="rect">
            <a:avLst/>
          </a:prstGeom>
        </p:spPr>
        <p:txBody>
          <a:bodyPr anchor="t" rtlCol="false" tIns="0" lIns="0" bIns="0" rIns="0">
            <a:spAutoFit/>
          </a:bodyPr>
          <a:lstStyle/>
          <a:p>
            <a:pPr algn="l">
              <a:lnSpc>
                <a:spcPts val="5433"/>
              </a:lnSpc>
            </a:pPr>
            <a:r>
              <a:rPr lang="en-US" sz="4353" b="true">
                <a:solidFill>
                  <a:srgbClr val="000000"/>
                </a:solidFill>
                <a:latin typeface="Petrona Bold"/>
                <a:ea typeface="Petrona Bold"/>
                <a:cs typeface="Petrona Bold"/>
                <a:sym typeface="Petrona Bold"/>
              </a:rPr>
              <a:t>Custom TCP Protocol: Port 2121</a:t>
            </a:r>
          </a:p>
        </p:txBody>
      </p:sp>
      <p:grpSp>
        <p:nvGrpSpPr>
          <p:cNvPr name="Group 7" id="7"/>
          <p:cNvGrpSpPr/>
          <p:nvPr/>
        </p:nvGrpSpPr>
        <p:grpSpPr>
          <a:xfrm rot="0">
            <a:off x="841067" y="1874320"/>
            <a:ext cx="7867650" cy="4830566"/>
            <a:chOff x="0" y="0"/>
            <a:chExt cx="10490200" cy="6440754"/>
          </a:xfrm>
        </p:grpSpPr>
        <p:sp>
          <p:nvSpPr>
            <p:cNvPr name="Freeform 8" id="8"/>
            <p:cNvSpPr/>
            <p:nvPr/>
          </p:nvSpPr>
          <p:spPr>
            <a:xfrm flipH="false" flipV="false" rot="0">
              <a:off x="0" y="0"/>
              <a:ext cx="10490200" cy="6440678"/>
            </a:xfrm>
            <a:custGeom>
              <a:avLst/>
              <a:gdLst/>
              <a:ahLst/>
              <a:cxnLst/>
              <a:rect r="r" b="b" t="t" l="l"/>
              <a:pathLst>
                <a:path h="6440678" w="10490200">
                  <a:moveTo>
                    <a:pt x="0" y="202565"/>
                  </a:moveTo>
                  <a:cubicBezTo>
                    <a:pt x="0" y="90678"/>
                    <a:pt x="90678" y="0"/>
                    <a:pt x="202565" y="0"/>
                  </a:cubicBezTo>
                  <a:lnTo>
                    <a:pt x="10287508" y="0"/>
                  </a:lnTo>
                  <a:cubicBezTo>
                    <a:pt x="10399522" y="0"/>
                    <a:pt x="10490200" y="90678"/>
                    <a:pt x="10490200" y="202565"/>
                  </a:cubicBezTo>
                  <a:lnTo>
                    <a:pt x="10490200" y="6238113"/>
                  </a:lnTo>
                  <a:cubicBezTo>
                    <a:pt x="10490200" y="6350000"/>
                    <a:pt x="10399522" y="6440678"/>
                    <a:pt x="10287635" y="6440678"/>
                  </a:cubicBezTo>
                  <a:lnTo>
                    <a:pt x="202565" y="6440678"/>
                  </a:lnTo>
                  <a:cubicBezTo>
                    <a:pt x="90678" y="6440805"/>
                    <a:pt x="0" y="6350000"/>
                    <a:pt x="0" y="6238113"/>
                  </a:cubicBezTo>
                  <a:close/>
                </a:path>
              </a:pathLst>
            </a:custGeom>
            <a:solidFill>
              <a:srgbClr val="1A3A52">
                <a:alpha val="90196"/>
              </a:srgbClr>
            </a:solidFill>
          </p:spPr>
        </p:sp>
      </p:grpSp>
      <p:sp>
        <p:nvSpPr>
          <p:cNvPr name="TextBox 9" id="9"/>
          <p:cNvSpPr txBox="true"/>
          <p:nvPr/>
        </p:nvSpPr>
        <p:spPr>
          <a:xfrm rot="0">
            <a:off x="1051970" y="2025072"/>
            <a:ext cx="7445845" cy="374875"/>
          </a:xfrm>
          <a:prstGeom prst="rect">
            <a:avLst/>
          </a:prstGeom>
        </p:spPr>
        <p:txBody>
          <a:bodyPr anchor="t" rtlCol="false" tIns="0" lIns="0" bIns="0" rIns="0">
            <a:spAutoFit/>
          </a:bodyPr>
          <a:lstStyle/>
          <a:p>
            <a:pPr algn="l">
              <a:lnSpc>
                <a:spcPts val="2716"/>
              </a:lnSpc>
            </a:pPr>
            <a:r>
              <a:rPr lang="en-US" sz="2176" b="true">
                <a:solidFill>
                  <a:srgbClr val="FFFFFF"/>
                </a:solidFill>
                <a:latin typeface="Petrona Bold"/>
                <a:ea typeface="Petrona Bold"/>
                <a:cs typeface="Petrona Bold"/>
                <a:sym typeface="Petrona Bold"/>
              </a:rPr>
              <a:t>Complete Session Transcript</a:t>
            </a:r>
          </a:p>
        </p:txBody>
      </p:sp>
      <p:grpSp>
        <p:nvGrpSpPr>
          <p:cNvPr name="Group 10" id="10"/>
          <p:cNvGrpSpPr/>
          <p:nvPr/>
        </p:nvGrpSpPr>
        <p:grpSpPr>
          <a:xfrm rot="0">
            <a:off x="1051970" y="2601611"/>
            <a:ext cx="7445845" cy="3460728"/>
            <a:chOff x="0" y="0"/>
            <a:chExt cx="9927793" cy="4614304"/>
          </a:xfrm>
        </p:grpSpPr>
        <p:sp>
          <p:nvSpPr>
            <p:cNvPr name="Freeform 11" id="11"/>
            <p:cNvSpPr/>
            <p:nvPr/>
          </p:nvSpPr>
          <p:spPr>
            <a:xfrm flipH="false" flipV="false" rot="0">
              <a:off x="0" y="0"/>
              <a:ext cx="9927717" cy="4614291"/>
            </a:xfrm>
            <a:custGeom>
              <a:avLst/>
              <a:gdLst/>
              <a:ahLst/>
              <a:cxnLst/>
              <a:rect r="r" b="b" t="t" l="l"/>
              <a:pathLst>
                <a:path h="4614291" w="9927717">
                  <a:moveTo>
                    <a:pt x="0" y="118110"/>
                  </a:moveTo>
                  <a:cubicBezTo>
                    <a:pt x="0" y="52959"/>
                    <a:pt x="52959" y="0"/>
                    <a:pt x="118110" y="0"/>
                  </a:cubicBezTo>
                  <a:lnTo>
                    <a:pt x="9809607" y="0"/>
                  </a:lnTo>
                  <a:cubicBezTo>
                    <a:pt x="9874885" y="0"/>
                    <a:pt x="9927717" y="52959"/>
                    <a:pt x="9927717" y="118110"/>
                  </a:cubicBezTo>
                  <a:lnTo>
                    <a:pt x="9927717" y="4496181"/>
                  </a:lnTo>
                  <a:cubicBezTo>
                    <a:pt x="9927717" y="4561459"/>
                    <a:pt x="9874758" y="4614291"/>
                    <a:pt x="9809607" y="4614291"/>
                  </a:cubicBezTo>
                  <a:lnTo>
                    <a:pt x="118110" y="4614291"/>
                  </a:lnTo>
                  <a:cubicBezTo>
                    <a:pt x="52832" y="4614291"/>
                    <a:pt x="0" y="4561332"/>
                    <a:pt x="0" y="4496181"/>
                  </a:cubicBezTo>
                  <a:close/>
                </a:path>
              </a:pathLst>
            </a:custGeom>
            <a:solidFill>
              <a:srgbClr val="27475F"/>
            </a:solidFill>
          </p:spPr>
        </p:sp>
      </p:grpSp>
      <p:sp>
        <p:nvSpPr>
          <p:cNvPr name="TextBox 12" id="12"/>
          <p:cNvSpPr txBox="true"/>
          <p:nvPr/>
        </p:nvSpPr>
        <p:spPr>
          <a:xfrm rot="0">
            <a:off x="1305163" y="2717273"/>
            <a:ext cx="6939448" cy="3134163"/>
          </a:xfrm>
          <a:prstGeom prst="rect">
            <a:avLst/>
          </a:prstGeom>
        </p:spPr>
        <p:txBody>
          <a:bodyPr anchor="t" rtlCol="false" tIns="0" lIns="0" bIns="0" rIns="0">
            <a:spAutoFit/>
          </a:bodyPr>
          <a:lstStyle/>
          <a:p>
            <a:pPr algn="l">
              <a:lnSpc>
                <a:spcPts val="2635"/>
              </a:lnSpc>
            </a:pPr>
            <a:r>
              <a:rPr lang="en-US" sz="1651">
                <a:solidFill>
                  <a:srgbClr val="E6EDF3"/>
                </a:solidFill>
                <a:latin typeface="Consolas"/>
                <a:ea typeface="Consolas"/>
                <a:cs typeface="Consolas"/>
                <a:sym typeface="Consolas"/>
              </a:rPr>
              <a:t>← 220 Welcome to NetTransfer TCP Service</a:t>
            </a:r>
          </a:p>
          <a:p>
            <a:pPr algn="l">
              <a:lnSpc>
                <a:spcPts val="2635"/>
              </a:lnSpc>
            </a:pPr>
            <a:r>
              <a:rPr lang="en-US" sz="1651">
                <a:solidFill>
                  <a:srgbClr val="E6EDF3"/>
                </a:solidFill>
                <a:latin typeface="Consolas"/>
                <a:ea typeface="Consolas"/>
                <a:cs typeface="Consolas"/>
                <a:sym typeface="Consolas"/>
              </a:rPr>
              <a:t>→ AUTH demo-user s3cr3t</a:t>
            </a:r>
          </a:p>
          <a:p>
            <a:pPr algn="l">
              <a:lnSpc>
                <a:spcPts val="2635"/>
              </a:lnSpc>
            </a:pPr>
            <a:r>
              <a:rPr lang="en-US" sz="1651">
                <a:solidFill>
                  <a:srgbClr val="E6EDF3"/>
                </a:solidFill>
                <a:latin typeface="Consolas"/>
                <a:ea typeface="Consolas"/>
                <a:cs typeface="Consolas"/>
                <a:sym typeface="Consolas"/>
              </a:rPr>
              <a:t>← 230 User demo-user logged in successfully.</a:t>
            </a:r>
          </a:p>
          <a:p>
            <a:pPr algn="l">
              <a:lnSpc>
                <a:spcPts val="2635"/>
              </a:lnSpc>
            </a:pPr>
            <a:r>
              <a:rPr lang="en-US" sz="1651">
                <a:solidFill>
                  <a:srgbClr val="E6EDF3"/>
                </a:solidFill>
                <a:latin typeface="Consolas"/>
                <a:ea typeface="Consolas"/>
                <a:cs typeface="Consolas"/>
                <a:sym typeface="Consolas"/>
              </a:rPr>
              <a:t>→ STOR demo-note.txt 17</a:t>
            </a:r>
          </a:p>
          <a:p>
            <a:pPr algn="l">
              <a:lnSpc>
                <a:spcPts val="2635"/>
              </a:lnSpc>
            </a:pPr>
            <a:r>
              <a:rPr lang="en-US" sz="1651">
                <a:solidFill>
                  <a:srgbClr val="E6EDF3"/>
                </a:solidFill>
                <a:latin typeface="Consolas"/>
                <a:ea typeface="Consolas"/>
                <a:cs typeface="Consolas"/>
                <a:sym typeface="Consolas"/>
              </a:rPr>
              <a:t>← 150 Ready to receive 17 bytes.</a:t>
            </a:r>
          </a:p>
          <a:p>
            <a:pPr algn="l">
              <a:lnSpc>
                <a:spcPts val="2635"/>
              </a:lnSpc>
            </a:pPr>
            <a:r>
              <a:rPr lang="en-US" sz="1651">
                <a:solidFill>
                  <a:srgbClr val="E6EDF3"/>
                </a:solidFill>
                <a:latin typeface="Consolas"/>
                <a:ea typeface="Consolas"/>
                <a:cs typeface="Consolas"/>
                <a:sym typeface="Consolas"/>
              </a:rPr>
              <a:t>→ &lt;17 raw bytes, no header&gt;</a:t>
            </a:r>
          </a:p>
          <a:p>
            <a:pPr algn="l">
              <a:lnSpc>
                <a:spcPts val="2635"/>
              </a:lnSpc>
            </a:pPr>
            <a:r>
              <a:rPr lang="en-US" sz="1651">
                <a:solidFill>
                  <a:srgbClr val="E6EDF3"/>
                </a:solidFill>
                <a:latin typeface="Consolas"/>
                <a:ea typeface="Consolas"/>
                <a:cs typeface="Consolas"/>
                <a:sym typeface="Consolas"/>
              </a:rPr>
              <a:t>← 226 Transfer complete. Saved 17 bytes.</a:t>
            </a:r>
          </a:p>
          <a:p>
            <a:pPr algn="l">
              <a:lnSpc>
                <a:spcPts val="2635"/>
              </a:lnSpc>
            </a:pPr>
            <a:r>
              <a:rPr lang="en-US" sz="1651">
                <a:solidFill>
                  <a:srgbClr val="E6EDF3"/>
                </a:solidFill>
                <a:latin typeface="Consolas"/>
                <a:ea typeface="Consolas"/>
                <a:cs typeface="Consolas"/>
                <a:sym typeface="Consolas"/>
              </a:rPr>
              <a:t>→ QUIT</a:t>
            </a:r>
          </a:p>
          <a:p>
            <a:pPr algn="l">
              <a:lnSpc>
                <a:spcPts val="2635"/>
              </a:lnSpc>
            </a:pPr>
            <a:r>
              <a:rPr lang="en-US" sz="1651">
                <a:solidFill>
                  <a:srgbClr val="E6EDF3"/>
                </a:solidFill>
                <a:latin typeface="Consolas"/>
                <a:ea typeface="Consolas"/>
                <a:cs typeface="Consolas"/>
                <a:sym typeface="Consolas"/>
              </a:rPr>
              <a:t>← 221 Service closing control connection.</a:t>
            </a:r>
          </a:p>
        </p:txBody>
      </p:sp>
      <p:sp>
        <p:nvSpPr>
          <p:cNvPr name="TextBox 13" id="13"/>
          <p:cNvSpPr txBox="true"/>
          <p:nvPr/>
        </p:nvSpPr>
        <p:spPr>
          <a:xfrm rot="0">
            <a:off x="9081068" y="2025072"/>
            <a:ext cx="8237172" cy="374875"/>
          </a:xfrm>
          <a:prstGeom prst="rect">
            <a:avLst/>
          </a:prstGeom>
        </p:spPr>
        <p:txBody>
          <a:bodyPr anchor="t" rtlCol="false" tIns="0" lIns="0" bIns="0" rIns="0">
            <a:spAutoFit/>
          </a:bodyPr>
          <a:lstStyle/>
          <a:p>
            <a:pPr algn="l">
              <a:lnSpc>
                <a:spcPts val="2716"/>
              </a:lnSpc>
            </a:pPr>
            <a:r>
              <a:rPr lang="en-US" sz="2176" b="true">
                <a:solidFill>
                  <a:srgbClr val="000000"/>
                </a:solidFill>
                <a:latin typeface="Petrona Bold"/>
                <a:ea typeface="Petrona Bold"/>
                <a:cs typeface="Petrona Bold"/>
                <a:sym typeface="Petrona Bold"/>
              </a:rPr>
              <a:t>Reply Code Reference</a:t>
            </a:r>
          </a:p>
        </p:txBody>
      </p:sp>
      <p:graphicFrame>
        <p:nvGraphicFramePr>
          <p:cNvPr name="Table 14" id="14"/>
          <p:cNvGraphicFramePr>
            <a:graphicFrameLocks noGrp="true"/>
          </p:cNvGraphicFramePr>
          <p:nvPr/>
        </p:nvGraphicFramePr>
        <p:xfrm>
          <a:off x="9081067" y="2601614"/>
          <a:ext cx="8216970" cy="4315975"/>
        </p:xfrm>
        <a:graphic>
          <a:graphicData uri="http://schemas.openxmlformats.org/drawingml/2006/table">
            <a:tbl>
              <a:tblPr/>
              <a:tblGrid>
                <a:gridCol w="1643394"/>
                <a:gridCol w="6573576"/>
              </a:tblGrid>
              <a:tr h="544075">
                <a:tc>
                  <a:txBody>
                    <a:bodyPr anchor="t" rtlCol="false"/>
                    <a:lstStyle/>
                    <a:p>
                      <a:pPr algn="l">
                        <a:lnSpc>
                          <a:spcPts val="1981"/>
                        </a:lnSpc>
                        <a:defRPr/>
                      </a:pPr>
                      <a:r>
                        <a:rPr lang="en-US" sz="1651" b="true">
                          <a:solidFill>
                            <a:srgbClr val="272525"/>
                          </a:solidFill>
                          <a:latin typeface="Inter Bold"/>
                          <a:ea typeface="Inter Bold"/>
                          <a:cs typeface="Inter Bold"/>
                          <a:sym typeface="Inter Bold"/>
                        </a:rPr>
                        <a:t>Code</a:t>
                      </a:r>
                      <a:endParaRPr lang="en-US" sz="1100"/>
                    </a:p>
                  </a:txBody>
                  <a:tcPr marL="140582" marR="140582" marT="140582" marB="140582"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1981"/>
                        </a:lnSpc>
                        <a:defRPr/>
                      </a:pPr>
                      <a:r>
                        <a:rPr lang="en-US" sz="1651" b="true">
                          <a:solidFill>
                            <a:srgbClr val="272525"/>
                          </a:solidFill>
                          <a:latin typeface="Inter Bold"/>
                          <a:ea typeface="Inter Bold"/>
                          <a:cs typeface="Inter Bold"/>
                          <a:sym typeface="Inter Bold"/>
                        </a:rPr>
                        <a:t>Meaning</a:t>
                      </a:r>
                      <a:endParaRPr lang="en-US" sz="1100"/>
                    </a:p>
                  </a:txBody>
                  <a:tcPr marL="140582" marR="140582" marT="140582" marB="140582"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r>
              <a:tr h="628650">
                <a:tc>
                  <a:txBody>
                    <a:bodyPr anchor="t" rtlCol="false"/>
                    <a:lstStyle/>
                    <a:p>
                      <a:pPr algn="l">
                        <a:lnSpc>
                          <a:spcPts val="1981"/>
                        </a:lnSpc>
                        <a:defRPr/>
                      </a:pPr>
                      <a:r>
                        <a:rPr lang="en-US" sz="1651" b="true">
                          <a:solidFill>
                            <a:srgbClr val="272525"/>
                          </a:solidFill>
                          <a:latin typeface="Inter Bold"/>
                          <a:ea typeface="Inter Bold"/>
                          <a:cs typeface="Inter Bold"/>
                          <a:sym typeface="Inter Bold"/>
                        </a:rPr>
                        <a:t>220</a:t>
                      </a:r>
                      <a:endParaRPr lang="en-US" sz="1100"/>
                    </a:p>
                  </a:txBody>
                  <a:tcPr marL="140582" marR="140582" marT="140582" marB="140582"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1981"/>
                        </a:lnSpc>
                        <a:defRPr/>
                      </a:pPr>
                      <a:r>
                        <a:rPr lang="en-US" sz="1651">
                          <a:solidFill>
                            <a:srgbClr val="272525"/>
                          </a:solidFill>
                          <a:latin typeface="Inter"/>
                          <a:ea typeface="Inter"/>
                          <a:cs typeface="Inter"/>
                          <a:sym typeface="Inter"/>
                        </a:rPr>
                        <a:t>Service ready: sent on connect</a:t>
                      </a:r>
                      <a:endParaRPr lang="en-US" sz="1100"/>
                    </a:p>
                  </a:txBody>
                  <a:tcPr marL="140582" marR="140582" marT="140582" marB="140582"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r>
              <a:tr h="628650">
                <a:tc>
                  <a:txBody>
                    <a:bodyPr anchor="t" rtlCol="false"/>
                    <a:lstStyle/>
                    <a:p>
                      <a:pPr algn="l">
                        <a:lnSpc>
                          <a:spcPts val="1981"/>
                        </a:lnSpc>
                        <a:defRPr/>
                      </a:pPr>
                      <a:r>
                        <a:rPr lang="en-US" sz="1651" b="true">
                          <a:solidFill>
                            <a:srgbClr val="272525"/>
                          </a:solidFill>
                          <a:latin typeface="Inter Bold"/>
                          <a:ea typeface="Inter Bold"/>
                          <a:cs typeface="Inter Bold"/>
                          <a:sym typeface="Inter Bold"/>
                        </a:rPr>
                        <a:t>230</a:t>
                      </a:r>
                      <a:endParaRPr lang="en-US" sz="1100"/>
                    </a:p>
                  </a:txBody>
                  <a:tcPr marL="140582" marR="140582" marT="140582" marB="140582"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1981"/>
                        </a:lnSpc>
                        <a:defRPr/>
                      </a:pPr>
                      <a:r>
                        <a:rPr lang="en-US" sz="1651">
                          <a:solidFill>
                            <a:srgbClr val="272525"/>
                          </a:solidFill>
                          <a:latin typeface="Inter"/>
                          <a:ea typeface="Inter"/>
                          <a:cs typeface="Inter"/>
                          <a:sym typeface="Inter"/>
                        </a:rPr>
                        <a:t>AUTH accepted: user logged in</a:t>
                      </a:r>
                      <a:endParaRPr lang="en-US" sz="1100"/>
                    </a:p>
                  </a:txBody>
                  <a:tcPr marL="140582" marR="140582" marT="140582" marB="140582"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r>
              <a:tr h="628650">
                <a:tc>
                  <a:txBody>
                    <a:bodyPr anchor="t" rtlCol="false"/>
                    <a:lstStyle/>
                    <a:p>
                      <a:pPr algn="l">
                        <a:lnSpc>
                          <a:spcPts val="1981"/>
                        </a:lnSpc>
                        <a:defRPr/>
                      </a:pPr>
                      <a:r>
                        <a:rPr lang="en-US" sz="1651" b="true">
                          <a:solidFill>
                            <a:srgbClr val="272525"/>
                          </a:solidFill>
                          <a:latin typeface="Inter Bold"/>
                          <a:ea typeface="Inter Bold"/>
                          <a:cs typeface="Inter Bold"/>
                          <a:sym typeface="Inter Bold"/>
                        </a:rPr>
                        <a:t>150</a:t>
                      </a:r>
                      <a:endParaRPr lang="en-US" sz="1100"/>
                    </a:p>
                  </a:txBody>
                  <a:tcPr marL="140582" marR="140582" marT="140582" marB="140582"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1981"/>
                        </a:lnSpc>
                        <a:defRPr/>
                      </a:pPr>
                      <a:r>
                        <a:rPr lang="en-US" sz="1651">
                          <a:solidFill>
                            <a:srgbClr val="272525"/>
                          </a:solidFill>
                          <a:latin typeface="Inter"/>
                          <a:ea typeface="Inter"/>
                          <a:cs typeface="Inter"/>
                          <a:sym typeface="Inter"/>
                        </a:rPr>
                        <a:t>Transfer starting : ready for bytes</a:t>
                      </a:r>
                      <a:endParaRPr lang="en-US" sz="1100"/>
                    </a:p>
                  </a:txBody>
                  <a:tcPr marL="140582" marR="140582" marT="140582" marB="140582"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r>
              <a:tr h="628650">
                <a:tc>
                  <a:txBody>
                    <a:bodyPr anchor="t" rtlCol="false"/>
                    <a:lstStyle/>
                    <a:p>
                      <a:pPr algn="l">
                        <a:lnSpc>
                          <a:spcPts val="1981"/>
                        </a:lnSpc>
                        <a:defRPr/>
                      </a:pPr>
                      <a:r>
                        <a:rPr lang="en-US" sz="1651" b="true">
                          <a:solidFill>
                            <a:srgbClr val="272525"/>
                          </a:solidFill>
                          <a:latin typeface="Inter Bold"/>
                          <a:ea typeface="Inter Bold"/>
                          <a:cs typeface="Inter Bold"/>
                          <a:sym typeface="Inter Bold"/>
                        </a:rPr>
                        <a:t>226</a:t>
                      </a:r>
                      <a:endParaRPr lang="en-US" sz="1100"/>
                    </a:p>
                  </a:txBody>
                  <a:tcPr marL="140582" marR="140582" marT="140582" marB="140582"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1981"/>
                        </a:lnSpc>
                        <a:defRPr/>
                      </a:pPr>
                      <a:r>
                        <a:rPr lang="en-US" sz="1651">
                          <a:solidFill>
                            <a:srgbClr val="272525"/>
                          </a:solidFill>
                          <a:latin typeface="Inter"/>
                          <a:ea typeface="Inter"/>
                          <a:cs typeface="Inter"/>
                          <a:sym typeface="Inter"/>
                        </a:rPr>
                        <a:t>Transfer complete: bytes saved</a:t>
                      </a:r>
                      <a:endParaRPr lang="en-US" sz="1100"/>
                    </a:p>
                  </a:txBody>
                  <a:tcPr marL="140582" marR="140582" marT="140582" marB="140582"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r>
              <a:tr h="628650">
                <a:tc>
                  <a:txBody>
                    <a:bodyPr anchor="t" rtlCol="false"/>
                    <a:lstStyle/>
                    <a:p>
                      <a:pPr algn="l">
                        <a:lnSpc>
                          <a:spcPts val="1981"/>
                        </a:lnSpc>
                        <a:defRPr/>
                      </a:pPr>
                      <a:r>
                        <a:rPr lang="en-US" sz="1651" b="true">
                          <a:solidFill>
                            <a:srgbClr val="272525"/>
                          </a:solidFill>
                          <a:latin typeface="Inter Bold"/>
                          <a:ea typeface="Inter Bold"/>
                          <a:cs typeface="Inter Bold"/>
                          <a:sym typeface="Inter Bold"/>
                        </a:rPr>
                        <a:t>221</a:t>
                      </a:r>
                      <a:endParaRPr lang="en-US" sz="1100"/>
                    </a:p>
                  </a:txBody>
                  <a:tcPr marL="140582" marR="140582" marT="140582" marB="140582"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1981"/>
                        </a:lnSpc>
                        <a:defRPr/>
                      </a:pPr>
                      <a:r>
                        <a:rPr lang="en-US" sz="1651">
                          <a:solidFill>
                            <a:srgbClr val="272525"/>
                          </a:solidFill>
                          <a:latin typeface="Inter"/>
                          <a:ea typeface="Inter"/>
                          <a:cs typeface="Inter"/>
                          <a:sym typeface="Inter"/>
                        </a:rPr>
                        <a:t>QUIT acknowledged: connection closing</a:t>
                      </a:r>
                      <a:endParaRPr lang="en-US" sz="1100"/>
                    </a:p>
                  </a:txBody>
                  <a:tcPr marL="140582" marR="140582" marT="140582" marB="140582"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r>
              <a:tr h="628650">
                <a:tc>
                  <a:txBody>
                    <a:bodyPr anchor="t" rtlCol="false"/>
                    <a:lstStyle/>
                    <a:p>
                      <a:pPr algn="l">
                        <a:lnSpc>
                          <a:spcPts val="1981"/>
                        </a:lnSpc>
                        <a:defRPr/>
                      </a:pPr>
                      <a:r>
                        <a:rPr lang="en-US" sz="1651" b="true">
                          <a:solidFill>
                            <a:srgbClr val="272525"/>
                          </a:solidFill>
                          <a:latin typeface="Inter Bold"/>
                          <a:ea typeface="Inter Bold"/>
                          <a:cs typeface="Inter Bold"/>
                          <a:sym typeface="Inter Bold"/>
                        </a:rPr>
                        <a:t>553</a:t>
                      </a:r>
                      <a:endParaRPr lang="en-US" sz="1100"/>
                    </a:p>
                  </a:txBody>
                  <a:tcPr marL="140582" marR="140582" marT="140582" marB="140582"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1981"/>
                        </a:lnSpc>
                        <a:defRPr/>
                      </a:pPr>
                      <a:r>
                        <a:rPr lang="en-US" sz="1651">
                          <a:solidFill>
                            <a:srgbClr val="272525"/>
                          </a:solidFill>
                          <a:latin typeface="Inter"/>
                          <a:ea typeface="Inter"/>
                          <a:cs typeface="Inter"/>
                          <a:sym typeface="Inter"/>
                        </a:rPr>
                        <a:t>Path rejected: sandbox violation</a:t>
                      </a:r>
                      <a:endParaRPr lang="en-US" sz="1100"/>
                    </a:p>
                  </a:txBody>
                  <a:tcPr marL="140582" marR="140582" marT="140582" marB="140582"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r>
            </a:tbl>
          </a:graphicData>
        </a:graphic>
      </p:graphicFrame>
      <p:grpSp>
        <p:nvGrpSpPr>
          <p:cNvPr name="Group 15" id="15"/>
          <p:cNvGrpSpPr/>
          <p:nvPr/>
        </p:nvGrpSpPr>
        <p:grpSpPr>
          <a:xfrm rot="0">
            <a:off x="9081068" y="3139650"/>
            <a:ext cx="8237172" cy="13192"/>
            <a:chOff x="0" y="0"/>
            <a:chExt cx="10982896" cy="17590"/>
          </a:xfrm>
        </p:grpSpPr>
        <p:sp>
          <p:nvSpPr>
            <p:cNvPr name="Freeform 16" id="16"/>
            <p:cNvSpPr/>
            <p:nvPr/>
          </p:nvSpPr>
          <p:spPr>
            <a:xfrm flipH="false" flipV="false" rot="0">
              <a:off x="0" y="0"/>
              <a:ext cx="10982833" cy="17526"/>
            </a:xfrm>
            <a:custGeom>
              <a:avLst/>
              <a:gdLst/>
              <a:ahLst/>
              <a:cxnLst/>
              <a:rect r="r" b="b" t="t" l="l"/>
              <a:pathLst>
                <a:path h="17526" w="10982833">
                  <a:moveTo>
                    <a:pt x="0" y="0"/>
                  </a:moveTo>
                  <a:lnTo>
                    <a:pt x="10982833" y="0"/>
                  </a:lnTo>
                  <a:lnTo>
                    <a:pt x="10982833" y="17526"/>
                  </a:lnTo>
                  <a:lnTo>
                    <a:pt x="0" y="17526"/>
                  </a:lnTo>
                  <a:close/>
                </a:path>
              </a:pathLst>
            </a:custGeom>
            <a:solidFill>
              <a:srgbClr val="000000">
                <a:alpha val="392"/>
              </a:srgbClr>
            </a:solidFill>
          </p:spPr>
        </p:sp>
      </p:grpSp>
      <p:grpSp>
        <p:nvGrpSpPr>
          <p:cNvPr name="Group 17" id="17"/>
          <p:cNvGrpSpPr/>
          <p:nvPr/>
        </p:nvGrpSpPr>
        <p:grpSpPr>
          <a:xfrm rot="0">
            <a:off x="9081068" y="3695652"/>
            <a:ext cx="8237172" cy="13192"/>
            <a:chOff x="0" y="0"/>
            <a:chExt cx="10982896" cy="17590"/>
          </a:xfrm>
        </p:grpSpPr>
        <p:sp>
          <p:nvSpPr>
            <p:cNvPr name="Freeform 18" id="18"/>
            <p:cNvSpPr/>
            <p:nvPr/>
          </p:nvSpPr>
          <p:spPr>
            <a:xfrm flipH="false" flipV="false" rot="0">
              <a:off x="0" y="0"/>
              <a:ext cx="10982833" cy="17526"/>
            </a:xfrm>
            <a:custGeom>
              <a:avLst/>
              <a:gdLst/>
              <a:ahLst/>
              <a:cxnLst/>
              <a:rect r="r" b="b" t="t" l="l"/>
              <a:pathLst>
                <a:path h="17526" w="10982833">
                  <a:moveTo>
                    <a:pt x="0" y="0"/>
                  </a:moveTo>
                  <a:lnTo>
                    <a:pt x="10982833" y="0"/>
                  </a:lnTo>
                  <a:lnTo>
                    <a:pt x="10982833" y="17526"/>
                  </a:lnTo>
                  <a:lnTo>
                    <a:pt x="0" y="17526"/>
                  </a:lnTo>
                  <a:close/>
                </a:path>
              </a:pathLst>
            </a:custGeom>
            <a:solidFill>
              <a:srgbClr val="000000">
                <a:alpha val="392"/>
              </a:srgbClr>
            </a:solidFill>
          </p:spPr>
        </p:sp>
      </p:grpSp>
      <p:grpSp>
        <p:nvGrpSpPr>
          <p:cNvPr name="Group 19" id="19"/>
          <p:cNvGrpSpPr/>
          <p:nvPr/>
        </p:nvGrpSpPr>
        <p:grpSpPr>
          <a:xfrm rot="0">
            <a:off x="9081068" y="4251646"/>
            <a:ext cx="8237172" cy="13192"/>
            <a:chOff x="0" y="0"/>
            <a:chExt cx="10982896" cy="17590"/>
          </a:xfrm>
        </p:grpSpPr>
        <p:sp>
          <p:nvSpPr>
            <p:cNvPr name="Freeform 20" id="20"/>
            <p:cNvSpPr/>
            <p:nvPr/>
          </p:nvSpPr>
          <p:spPr>
            <a:xfrm flipH="false" flipV="false" rot="0">
              <a:off x="0" y="0"/>
              <a:ext cx="10982833" cy="17526"/>
            </a:xfrm>
            <a:custGeom>
              <a:avLst/>
              <a:gdLst/>
              <a:ahLst/>
              <a:cxnLst/>
              <a:rect r="r" b="b" t="t" l="l"/>
              <a:pathLst>
                <a:path h="17526" w="10982833">
                  <a:moveTo>
                    <a:pt x="0" y="0"/>
                  </a:moveTo>
                  <a:lnTo>
                    <a:pt x="10982833" y="0"/>
                  </a:lnTo>
                  <a:lnTo>
                    <a:pt x="10982833" y="17526"/>
                  </a:lnTo>
                  <a:lnTo>
                    <a:pt x="0" y="17526"/>
                  </a:lnTo>
                  <a:close/>
                </a:path>
              </a:pathLst>
            </a:custGeom>
            <a:solidFill>
              <a:srgbClr val="000000">
                <a:alpha val="392"/>
              </a:srgbClr>
            </a:solidFill>
          </p:spPr>
        </p:sp>
      </p:grpSp>
      <p:grpSp>
        <p:nvGrpSpPr>
          <p:cNvPr name="Group 21" id="21"/>
          <p:cNvGrpSpPr/>
          <p:nvPr/>
        </p:nvGrpSpPr>
        <p:grpSpPr>
          <a:xfrm rot="0">
            <a:off x="9081068" y="4807639"/>
            <a:ext cx="8237172" cy="13192"/>
            <a:chOff x="0" y="0"/>
            <a:chExt cx="10982896" cy="17590"/>
          </a:xfrm>
        </p:grpSpPr>
        <p:sp>
          <p:nvSpPr>
            <p:cNvPr name="Freeform 22" id="22"/>
            <p:cNvSpPr/>
            <p:nvPr/>
          </p:nvSpPr>
          <p:spPr>
            <a:xfrm flipH="false" flipV="false" rot="0">
              <a:off x="0" y="0"/>
              <a:ext cx="10982833" cy="17526"/>
            </a:xfrm>
            <a:custGeom>
              <a:avLst/>
              <a:gdLst/>
              <a:ahLst/>
              <a:cxnLst/>
              <a:rect r="r" b="b" t="t" l="l"/>
              <a:pathLst>
                <a:path h="17526" w="10982833">
                  <a:moveTo>
                    <a:pt x="0" y="0"/>
                  </a:moveTo>
                  <a:lnTo>
                    <a:pt x="10982833" y="0"/>
                  </a:lnTo>
                  <a:lnTo>
                    <a:pt x="10982833" y="17526"/>
                  </a:lnTo>
                  <a:lnTo>
                    <a:pt x="0" y="17526"/>
                  </a:lnTo>
                  <a:close/>
                </a:path>
              </a:pathLst>
            </a:custGeom>
            <a:solidFill>
              <a:srgbClr val="000000">
                <a:alpha val="392"/>
              </a:srgbClr>
            </a:solidFill>
          </p:spPr>
        </p:sp>
      </p:grpSp>
      <p:grpSp>
        <p:nvGrpSpPr>
          <p:cNvPr name="Group 23" id="23"/>
          <p:cNvGrpSpPr/>
          <p:nvPr/>
        </p:nvGrpSpPr>
        <p:grpSpPr>
          <a:xfrm rot="0">
            <a:off x="9081068" y="5363632"/>
            <a:ext cx="8237172" cy="13192"/>
            <a:chOff x="0" y="0"/>
            <a:chExt cx="10982896" cy="17590"/>
          </a:xfrm>
        </p:grpSpPr>
        <p:sp>
          <p:nvSpPr>
            <p:cNvPr name="Freeform 24" id="24"/>
            <p:cNvSpPr/>
            <p:nvPr/>
          </p:nvSpPr>
          <p:spPr>
            <a:xfrm flipH="false" flipV="false" rot="0">
              <a:off x="0" y="0"/>
              <a:ext cx="10982833" cy="17526"/>
            </a:xfrm>
            <a:custGeom>
              <a:avLst/>
              <a:gdLst/>
              <a:ahLst/>
              <a:cxnLst/>
              <a:rect r="r" b="b" t="t" l="l"/>
              <a:pathLst>
                <a:path h="17526" w="10982833">
                  <a:moveTo>
                    <a:pt x="0" y="0"/>
                  </a:moveTo>
                  <a:lnTo>
                    <a:pt x="10982833" y="0"/>
                  </a:lnTo>
                  <a:lnTo>
                    <a:pt x="10982833" y="17526"/>
                  </a:lnTo>
                  <a:lnTo>
                    <a:pt x="0" y="17526"/>
                  </a:lnTo>
                  <a:close/>
                </a:path>
              </a:pathLst>
            </a:custGeom>
            <a:solidFill>
              <a:srgbClr val="000000">
                <a:alpha val="392"/>
              </a:srgbClr>
            </a:solidFill>
          </p:spPr>
        </p:sp>
      </p:grpSp>
      <p:grpSp>
        <p:nvGrpSpPr>
          <p:cNvPr name="Group 25" id="25"/>
          <p:cNvGrpSpPr/>
          <p:nvPr/>
        </p:nvGrpSpPr>
        <p:grpSpPr>
          <a:xfrm rot="0">
            <a:off x="9081068" y="5919635"/>
            <a:ext cx="8237172" cy="13192"/>
            <a:chOff x="0" y="0"/>
            <a:chExt cx="10982896" cy="17590"/>
          </a:xfrm>
        </p:grpSpPr>
        <p:sp>
          <p:nvSpPr>
            <p:cNvPr name="Freeform 26" id="26"/>
            <p:cNvSpPr/>
            <p:nvPr/>
          </p:nvSpPr>
          <p:spPr>
            <a:xfrm flipH="false" flipV="false" rot="0">
              <a:off x="0" y="0"/>
              <a:ext cx="10982833" cy="17526"/>
            </a:xfrm>
            <a:custGeom>
              <a:avLst/>
              <a:gdLst/>
              <a:ahLst/>
              <a:cxnLst/>
              <a:rect r="r" b="b" t="t" l="l"/>
              <a:pathLst>
                <a:path h="17526" w="10982833">
                  <a:moveTo>
                    <a:pt x="0" y="0"/>
                  </a:moveTo>
                  <a:lnTo>
                    <a:pt x="10982833" y="0"/>
                  </a:lnTo>
                  <a:lnTo>
                    <a:pt x="10982833" y="17526"/>
                  </a:lnTo>
                  <a:lnTo>
                    <a:pt x="0" y="17526"/>
                  </a:lnTo>
                  <a:close/>
                </a:path>
              </a:pathLst>
            </a:custGeom>
            <a:solidFill>
              <a:srgbClr val="000000">
                <a:alpha val="392"/>
              </a:srgbClr>
            </a:solidFill>
          </p:spPr>
        </p:sp>
      </p:grpSp>
      <p:grpSp>
        <p:nvGrpSpPr>
          <p:cNvPr name="Group 27" id="27"/>
          <p:cNvGrpSpPr/>
          <p:nvPr/>
        </p:nvGrpSpPr>
        <p:grpSpPr>
          <a:xfrm rot="0">
            <a:off x="988219" y="6901786"/>
            <a:ext cx="5328504" cy="2484987"/>
            <a:chOff x="0" y="0"/>
            <a:chExt cx="7104672" cy="3313316"/>
          </a:xfrm>
        </p:grpSpPr>
        <p:sp>
          <p:nvSpPr>
            <p:cNvPr name="Freeform 28" id="28"/>
            <p:cNvSpPr/>
            <p:nvPr/>
          </p:nvSpPr>
          <p:spPr>
            <a:xfrm flipH="false" flipV="false" rot="0">
              <a:off x="0" y="0"/>
              <a:ext cx="7104635" cy="3313303"/>
            </a:xfrm>
            <a:custGeom>
              <a:avLst/>
              <a:gdLst/>
              <a:ahLst/>
              <a:cxnLst/>
              <a:rect r="r" b="b" t="t" l="l"/>
              <a:pathLst>
                <a:path h="3313303" w="7104635">
                  <a:moveTo>
                    <a:pt x="0" y="118618"/>
                  </a:moveTo>
                  <a:cubicBezTo>
                    <a:pt x="0" y="53086"/>
                    <a:pt x="53086" y="0"/>
                    <a:pt x="118618" y="0"/>
                  </a:cubicBezTo>
                  <a:lnTo>
                    <a:pt x="6986016" y="0"/>
                  </a:lnTo>
                  <a:cubicBezTo>
                    <a:pt x="7051548" y="0"/>
                    <a:pt x="7104635" y="53086"/>
                    <a:pt x="7104635" y="118618"/>
                  </a:cubicBezTo>
                  <a:lnTo>
                    <a:pt x="7104635" y="3194685"/>
                  </a:lnTo>
                  <a:cubicBezTo>
                    <a:pt x="7104635" y="3260217"/>
                    <a:pt x="7051548" y="3313303"/>
                    <a:pt x="6986016" y="3313303"/>
                  </a:cubicBezTo>
                  <a:lnTo>
                    <a:pt x="118618" y="3313303"/>
                  </a:lnTo>
                  <a:cubicBezTo>
                    <a:pt x="53086" y="3313303"/>
                    <a:pt x="0" y="3260217"/>
                    <a:pt x="0" y="3194685"/>
                  </a:cubicBezTo>
                  <a:close/>
                </a:path>
              </a:pathLst>
            </a:custGeom>
            <a:solidFill>
              <a:srgbClr val="CCEEFF"/>
            </a:solidFill>
            <a:ln w="9532" cap="sq">
              <a:solidFill>
                <a:srgbClr val="B2D4E5"/>
              </a:solidFill>
              <a:prstDash val="solid"/>
              <a:miter/>
            </a:ln>
          </p:spPr>
        </p:sp>
      </p:grpSp>
      <p:sp>
        <p:nvSpPr>
          <p:cNvPr name="TextBox 29" id="29"/>
          <p:cNvSpPr txBox="true"/>
          <p:nvPr/>
        </p:nvSpPr>
        <p:spPr>
          <a:xfrm rot="0">
            <a:off x="1213418" y="7098421"/>
            <a:ext cx="4878105" cy="374875"/>
          </a:xfrm>
          <a:prstGeom prst="rect">
            <a:avLst/>
          </a:prstGeom>
        </p:spPr>
        <p:txBody>
          <a:bodyPr anchor="t" rtlCol="false" tIns="0" lIns="0" bIns="0" rIns="0">
            <a:spAutoFit/>
          </a:bodyPr>
          <a:lstStyle/>
          <a:p>
            <a:pPr algn="l">
              <a:lnSpc>
                <a:spcPts val="2716"/>
              </a:lnSpc>
            </a:pPr>
            <a:r>
              <a:rPr lang="en-US" sz="2176" b="true">
                <a:solidFill>
                  <a:srgbClr val="272525"/>
                </a:solidFill>
                <a:latin typeface="Petrona Bold"/>
                <a:ea typeface="Petrona Bold"/>
                <a:cs typeface="Petrona Bold"/>
                <a:sym typeface="Petrona Bold"/>
              </a:rPr>
              <a:t>STOR Framing</a:t>
            </a:r>
          </a:p>
        </p:txBody>
      </p:sp>
      <p:sp>
        <p:nvSpPr>
          <p:cNvPr name="TextBox 30" id="30"/>
          <p:cNvSpPr txBox="true"/>
          <p:nvPr/>
        </p:nvSpPr>
        <p:spPr>
          <a:xfrm rot="0">
            <a:off x="1213418" y="7523674"/>
            <a:ext cx="4878105" cy="1218469"/>
          </a:xfrm>
          <a:prstGeom prst="rect">
            <a:avLst/>
          </a:prstGeom>
        </p:spPr>
        <p:txBody>
          <a:bodyPr anchor="t" rtlCol="false" tIns="0" lIns="0" bIns="0" rIns="0">
            <a:spAutoFit/>
          </a:bodyPr>
          <a:lstStyle/>
          <a:p>
            <a:pPr algn="l">
              <a:lnSpc>
                <a:spcPts val="2437"/>
              </a:lnSpc>
            </a:pPr>
            <a:r>
              <a:rPr lang="en-US" sz="1651">
                <a:solidFill>
                  <a:srgbClr val="272525"/>
                </a:solidFill>
                <a:latin typeface="Inter"/>
                <a:ea typeface="Inter"/>
                <a:cs typeface="Inter"/>
                <a:sym typeface="Inter"/>
              </a:rPr>
              <a:t>File size carried </a:t>
            </a:r>
            <a:r>
              <a:rPr lang="en-US" sz="1651" b="true">
                <a:solidFill>
                  <a:srgbClr val="272525"/>
                </a:solidFill>
                <a:latin typeface="Inter Bold"/>
                <a:ea typeface="Inter Bold"/>
                <a:cs typeface="Inter Bold"/>
                <a:sym typeface="Inter Bold"/>
              </a:rPr>
              <a:t>in the command line</a:t>
            </a:r>
            <a:r>
              <a:rPr lang="en-US" sz="1651">
                <a:solidFill>
                  <a:srgbClr val="272525"/>
                </a:solidFill>
                <a:latin typeface="Inter"/>
                <a:ea typeface="Inter"/>
                <a:cs typeface="Inter"/>
                <a:sym typeface="Inter"/>
              </a:rPr>
              <a:t>: STOR filename.txt 17. Raw bytes follow immediately, no binary header. Server reads exactly the declared byte count.</a:t>
            </a:r>
          </a:p>
        </p:txBody>
      </p:sp>
      <p:grpSp>
        <p:nvGrpSpPr>
          <p:cNvPr name="Group 31" id="31"/>
          <p:cNvGrpSpPr/>
          <p:nvPr/>
        </p:nvGrpSpPr>
        <p:grpSpPr>
          <a:xfrm rot="0">
            <a:off x="6486515" y="6901786"/>
            <a:ext cx="5328656" cy="2484987"/>
            <a:chOff x="0" y="0"/>
            <a:chExt cx="7104875" cy="3313316"/>
          </a:xfrm>
        </p:grpSpPr>
        <p:sp>
          <p:nvSpPr>
            <p:cNvPr name="Freeform 32" id="32"/>
            <p:cNvSpPr/>
            <p:nvPr/>
          </p:nvSpPr>
          <p:spPr>
            <a:xfrm flipH="false" flipV="false" rot="0">
              <a:off x="0" y="0"/>
              <a:ext cx="7104888" cy="3313303"/>
            </a:xfrm>
            <a:custGeom>
              <a:avLst/>
              <a:gdLst/>
              <a:ahLst/>
              <a:cxnLst/>
              <a:rect r="r" b="b" t="t" l="l"/>
              <a:pathLst>
                <a:path h="3313303" w="7104888">
                  <a:moveTo>
                    <a:pt x="0" y="118618"/>
                  </a:moveTo>
                  <a:cubicBezTo>
                    <a:pt x="0" y="53086"/>
                    <a:pt x="53086" y="0"/>
                    <a:pt x="118618" y="0"/>
                  </a:cubicBezTo>
                  <a:lnTo>
                    <a:pt x="6986270" y="0"/>
                  </a:lnTo>
                  <a:cubicBezTo>
                    <a:pt x="7051801" y="0"/>
                    <a:pt x="7104888" y="53086"/>
                    <a:pt x="7104888" y="118618"/>
                  </a:cubicBezTo>
                  <a:lnTo>
                    <a:pt x="7104888" y="3194685"/>
                  </a:lnTo>
                  <a:cubicBezTo>
                    <a:pt x="7104888" y="3260217"/>
                    <a:pt x="7051801" y="3313303"/>
                    <a:pt x="6986270" y="3313303"/>
                  </a:cubicBezTo>
                  <a:lnTo>
                    <a:pt x="118618" y="3313303"/>
                  </a:lnTo>
                  <a:cubicBezTo>
                    <a:pt x="53086" y="3313303"/>
                    <a:pt x="0" y="3260217"/>
                    <a:pt x="0" y="3194685"/>
                  </a:cubicBezTo>
                  <a:close/>
                </a:path>
              </a:pathLst>
            </a:custGeom>
            <a:solidFill>
              <a:srgbClr val="CCEEFF"/>
            </a:solidFill>
            <a:ln w="9532" cap="sq">
              <a:solidFill>
                <a:srgbClr val="B2D4E5"/>
              </a:solidFill>
              <a:prstDash val="solid"/>
              <a:miter/>
            </a:ln>
          </p:spPr>
        </p:sp>
      </p:grpSp>
      <p:sp>
        <p:nvSpPr>
          <p:cNvPr name="TextBox 33" id="33"/>
          <p:cNvSpPr txBox="true"/>
          <p:nvPr/>
        </p:nvSpPr>
        <p:spPr>
          <a:xfrm rot="0">
            <a:off x="6711715" y="7098421"/>
            <a:ext cx="4878257" cy="374875"/>
          </a:xfrm>
          <a:prstGeom prst="rect">
            <a:avLst/>
          </a:prstGeom>
        </p:spPr>
        <p:txBody>
          <a:bodyPr anchor="t" rtlCol="false" tIns="0" lIns="0" bIns="0" rIns="0">
            <a:spAutoFit/>
          </a:bodyPr>
          <a:lstStyle/>
          <a:p>
            <a:pPr algn="l">
              <a:lnSpc>
                <a:spcPts val="2716"/>
              </a:lnSpc>
            </a:pPr>
            <a:r>
              <a:rPr lang="en-US" sz="2176" b="true">
                <a:solidFill>
                  <a:srgbClr val="272525"/>
                </a:solidFill>
                <a:latin typeface="Petrona Bold"/>
                <a:ea typeface="Petrona Bold"/>
                <a:cs typeface="Petrona Bold"/>
                <a:sym typeface="Petrona Bold"/>
              </a:rPr>
              <a:t>RETR Framing</a:t>
            </a:r>
          </a:p>
        </p:txBody>
      </p:sp>
      <p:sp>
        <p:nvSpPr>
          <p:cNvPr name="TextBox 34" id="34"/>
          <p:cNvSpPr txBox="true"/>
          <p:nvPr/>
        </p:nvSpPr>
        <p:spPr>
          <a:xfrm rot="0">
            <a:off x="6711715" y="7523674"/>
            <a:ext cx="4878257" cy="1637900"/>
          </a:xfrm>
          <a:prstGeom prst="rect">
            <a:avLst/>
          </a:prstGeom>
        </p:spPr>
        <p:txBody>
          <a:bodyPr anchor="t" rtlCol="false" tIns="0" lIns="0" bIns="0" rIns="0">
            <a:spAutoFit/>
          </a:bodyPr>
          <a:lstStyle/>
          <a:p>
            <a:pPr algn="l">
              <a:lnSpc>
                <a:spcPts val="2437"/>
              </a:lnSpc>
            </a:pPr>
            <a:r>
              <a:rPr lang="en-US" sz="1651">
                <a:solidFill>
                  <a:srgbClr val="272525"/>
                </a:solidFill>
                <a:latin typeface="Inter"/>
                <a:ea typeface="Inter"/>
                <a:cs typeface="Inter"/>
                <a:sym typeface="Inter"/>
              </a:rPr>
              <a:t>Server prepends an </a:t>
            </a:r>
            <a:r>
              <a:rPr lang="en-US" sz="1651" b="true">
                <a:solidFill>
                  <a:srgbClr val="272525"/>
                </a:solidFill>
                <a:latin typeface="Inter Bold"/>
                <a:ea typeface="Inter Bold"/>
                <a:cs typeface="Inter Bold"/>
                <a:sym typeface="Inter Bold"/>
              </a:rPr>
              <a:t>8-byte unsigned big-endian length header</a:t>
            </a:r>
            <a:r>
              <a:rPr lang="en-US" sz="1651">
                <a:solidFill>
                  <a:srgbClr val="272525"/>
                </a:solidFill>
                <a:latin typeface="Inter"/>
                <a:ea typeface="Inter"/>
                <a:cs typeface="Inter"/>
                <a:sym typeface="Inter"/>
              </a:rPr>
              <a:t> (&gt;Q struct format) before the payload, then sends the file bytes, then replies 226. Example: 00 00 00 00 00 00 00 11 = 17 bytes.</a:t>
            </a:r>
          </a:p>
        </p:txBody>
      </p:sp>
      <p:grpSp>
        <p:nvGrpSpPr>
          <p:cNvPr name="Group 35" id="35"/>
          <p:cNvGrpSpPr/>
          <p:nvPr/>
        </p:nvGrpSpPr>
        <p:grpSpPr>
          <a:xfrm rot="0">
            <a:off x="11984965" y="6901786"/>
            <a:ext cx="5328656" cy="2484987"/>
            <a:chOff x="0" y="0"/>
            <a:chExt cx="7104875" cy="3313316"/>
          </a:xfrm>
        </p:grpSpPr>
        <p:sp>
          <p:nvSpPr>
            <p:cNvPr name="Freeform 36" id="36"/>
            <p:cNvSpPr/>
            <p:nvPr/>
          </p:nvSpPr>
          <p:spPr>
            <a:xfrm flipH="false" flipV="false" rot="0">
              <a:off x="0" y="0"/>
              <a:ext cx="7104888" cy="3313303"/>
            </a:xfrm>
            <a:custGeom>
              <a:avLst/>
              <a:gdLst/>
              <a:ahLst/>
              <a:cxnLst/>
              <a:rect r="r" b="b" t="t" l="l"/>
              <a:pathLst>
                <a:path h="3313303" w="7104888">
                  <a:moveTo>
                    <a:pt x="0" y="118618"/>
                  </a:moveTo>
                  <a:cubicBezTo>
                    <a:pt x="0" y="53086"/>
                    <a:pt x="53086" y="0"/>
                    <a:pt x="118618" y="0"/>
                  </a:cubicBezTo>
                  <a:lnTo>
                    <a:pt x="6986270" y="0"/>
                  </a:lnTo>
                  <a:cubicBezTo>
                    <a:pt x="7051801" y="0"/>
                    <a:pt x="7104888" y="53086"/>
                    <a:pt x="7104888" y="118618"/>
                  </a:cubicBezTo>
                  <a:lnTo>
                    <a:pt x="7104888" y="3194685"/>
                  </a:lnTo>
                  <a:cubicBezTo>
                    <a:pt x="7104888" y="3260217"/>
                    <a:pt x="7051801" y="3313303"/>
                    <a:pt x="6986270" y="3313303"/>
                  </a:cubicBezTo>
                  <a:lnTo>
                    <a:pt x="118618" y="3313303"/>
                  </a:lnTo>
                  <a:cubicBezTo>
                    <a:pt x="53086" y="3313303"/>
                    <a:pt x="0" y="3260217"/>
                    <a:pt x="0" y="3194685"/>
                  </a:cubicBezTo>
                  <a:close/>
                </a:path>
              </a:pathLst>
            </a:custGeom>
            <a:solidFill>
              <a:srgbClr val="CCEEFF"/>
            </a:solidFill>
            <a:ln w="9532" cap="sq">
              <a:solidFill>
                <a:srgbClr val="B2D4E5"/>
              </a:solidFill>
              <a:prstDash val="solid"/>
              <a:miter/>
            </a:ln>
          </p:spPr>
        </p:sp>
      </p:grpSp>
      <p:sp>
        <p:nvSpPr>
          <p:cNvPr name="TextBox 37" id="37"/>
          <p:cNvSpPr txBox="true"/>
          <p:nvPr/>
        </p:nvSpPr>
        <p:spPr>
          <a:xfrm rot="0">
            <a:off x="12210164" y="7098421"/>
            <a:ext cx="4878257" cy="374875"/>
          </a:xfrm>
          <a:prstGeom prst="rect">
            <a:avLst/>
          </a:prstGeom>
        </p:spPr>
        <p:txBody>
          <a:bodyPr anchor="t" rtlCol="false" tIns="0" lIns="0" bIns="0" rIns="0">
            <a:spAutoFit/>
          </a:bodyPr>
          <a:lstStyle/>
          <a:p>
            <a:pPr algn="l">
              <a:lnSpc>
                <a:spcPts val="2716"/>
              </a:lnSpc>
            </a:pPr>
            <a:r>
              <a:rPr lang="en-US" sz="2176" b="true">
                <a:solidFill>
                  <a:srgbClr val="272525"/>
                </a:solidFill>
                <a:latin typeface="Petrona Bold"/>
                <a:ea typeface="Petrona Bold"/>
                <a:cs typeface="Petrona Bold"/>
                <a:sym typeface="Petrona Bold"/>
              </a:rPr>
              <a:t>Chunk Size &amp; Sandbox</a:t>
            </a:r>
          </a:p>
        </p:txBody>
      </p:sp>
      <p:sp>
        <p:nvSpPr>
          <p:cNvPr name="TextBox 38" id="38"/>
          <p:cNvSpPr txBox="true"/>
          <p:nvPr/>
        </p:nvSpPr>
        <p:spPr>
          <a:xfrm rot="0">
            <a:off x="12210164" y="7523674"/>
            <a:ext cx="4878257" cy="1325566"/>
          </a:xfrm>
          <a:prstGeom prst="rect">
            <a:avLst/>
          </a:prstGeom>
        </p:spPr>
        <p:txBody>
          <a:bodyPr anchor="t" rtlCol="false" tIns="0" lIns="0" bIns="0" rIns="0">
            <a:spAutoFit/>
          </a:bodyPr>
          <a:lstStyle/>
          <a:p>
            <a:pPr algn="l">
              <a:lnSpc>
                <a:spcPts val="2437"/>
              </a:lnSpc>
            </a:pPr>
            <a:r>
              <a:rPr lang="en-US" sz="1651">
                <a:solidFill>
                  <a:srgbClr val="272525"/>
                </a:solidFill>
                <a:latin typeface="Inter"/>
                <a:ea typeface="Inter"/>
                <a:cs typeface="Inter"/>
                <a:sym typeface="Inter"/>
              </a:rPr>
              <a:t>Both sides read/write in </a:t>
            </a:r>
            <a:r>
              <a:rPr lang="en-US" sz="1651" b="true">
                <a:solidFill>
                  <a:srgbClr val="272525"/>
                </a:solidFill>
                <a:latin typeface="Inter Bold"/>
                <a:ea typeface="Inter Bold"/>
                <a:cs typeface="Inter Bold"/>
                <a:sym typeface="Inter Bold"/>
              </a:rPr>
              <a:t>64 KiB chunks</a:t>
            </a:r>
            <a:r>
              <a:rPr lang="en-US" sz="1651">
                <a:solidFill>
                  <a:srgbClr val="272525"/>
                </a:solidFill>
                <a:latin typeface="Inter"/>
                <a:ea typeface="Inter"/>
                <a:cs typeface="Inter"/>
                <a:sym typeface="Inter"/>
              </a:rPr>
              <a:t>. Any path containing / or .. is rejected with error </a:t>
            </a:r>
            <a:r>
              <a:rPr lang="en-US" sz="1651" b="true">
                <a:solidFill>
                  <a:srgbClr val="272525"/>
                </a:solidFill>
                <a:latin typeface="Inter Bold"/>
                <a:ea typeface="Inter Bold"/>
                <a:cs typeface="Inter Bold"/>
                <a:sym typeface="Inter Bold"/>
              </a:rPr>
              <a:t>553</a:t>
            </a:r>
            <a:r>
              <a:rPr lang="en-US" sz="1651">
                <a:solidFill>
                  <a:srgbClr val="272525"/>
                </a:solidFill>
                <a:latin typeface="Inter"/>
                <a:ea typeface="Inter"/>
                <a:cs typeface="Inter"/>
                <a:sym typeface="Inter"/>
              </a:rPr>
              <a:t> before the resolved path is checked against users/&lt;account&gt;/.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descr="preencoded.png"/>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lnTo>
                    <a:pt x="0" y="0"/>
                  </a:lnTo>
                  <a:close/>
                </a:path>
              </a:pathLst>
            </a:custGeom>
            <a:blipFill>
              <a:blip r:embed="rId3"/>
              <a:stretch>
                <a:fillRect l="-1" t="0" r="-1" b="0"/>
              </a:stretch>
            </a:blip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alpha val="90196"/>
              </a:srgbClr>
            </a:solidFill>
          </p:spPr>
        </p:sp>
      </p:grpSp>
      <p:sp>
        <p:nvSpPr>
          <p:cNvPr name="TextBox 6" id="6"/>
          <p:cNvSpPr txBox="true"/>
          <p:nvPr/>
        </p:nvSpPr>
        <p:spPr>
          <a:xfrm rot="0">
            <a:off x="992991" y="671465"/>
            <a:ext cx="16315868" cy="761676"/>
          </a:xfrm>
          <a:prstGeom prst="rect">
            <a:avLst/>
          </a:prstGeom>
        </p:spPr>
        <p:txBody>
          <a:bodyPr anchor="t" rtlCol="false" tIns="0" lIns="0" bIns="0" rIns="0">
            <a:spAutoFit/>
          </a:bodyPr>
          <a:lstStyle/>
          <a:p>
            <a:pPr algn="l">
              <a:lnSpc>
                <a:spcPts val="5714"/>
              </a:lnSpc>
            </a:pPr>
            <a:r>
              <a:rPr lang="en-US" sz="4578" b="true">
                <a:solidFill>
                  <a:srgbClr val="000000"/>
                </a:solidFill>
                <a:latin typeface="Petrona Bold"/>
                <a:ea typeface="Petrona Bold"/>
                <a:cs typeface="Petrona Bold"/>
                <a:sym typeface="Petrona Bold"/>
              </a:rPr>
              <a:t>Authentication &amp; Security Model</a:t>
            </a:r>
          </a:p>
        </p:txBody>
      </p:sp>
      <p:sp>
        <p:nvSpPr>
          <p:cNvPr name="TextBox 7" id="7"/>
          <p:cNvSpPr txBox="true"/>
          <p:nvPr/>
        </p:nvSpPr>
        <p:spPr>
          <a:xfrm rot="0">
            <a:off x="992991" y="1916782"/>
            <a:ext cx="8728377" cy="385601"/>
          </a:xfrm>
          <a:prstGeom prst="rect">
            <a:avLst/>
          </a:prstGeom>
        </p:spPr>
        <p:txBody>
          <a:bodyPr anchor="t" rtlCol="false" tIns="0" lIns="0" bIns="0" rIns="0">
            <a:spAutoFit/>
          </a:bodyPr>
          <a:lstStyle/>
          <a:p>
            <a:pPr algn="l">
              <a:lnSpc>
                <a:spcPts val="2810"/>
              </a:lnSpc>
            </a:pPr>
            <a:r>
              <a:rPr lang="en-US" sz="2251" b="true">
                <a:solidFill>
                  <a:srgbClr val="000000"/>
                </a:solidFill>
                <a:latin typeface="Petrona Bold"/>
                <a:ea typeface="Petrona Bold"/>
                <a:cs typeface="Petrona Bold"/>
                <a:sym typeface="Petrona Bold"/>
              </a:rPr>
              <a:t>Credential Lifecycle</a:t>
            </a:r>
          </a:p>
        </p:txBody>
      </p:sp>
      <p:grpSp>
        <p:nvGrpSpPr>
          <p:cNvPr name="Group 8" id="8"/>
          <p:cNvGrpSpPr/>
          <p:nvPr/>
        </p:nvGrpSpPr>
        <p:grpSpPr>
          <a:xfrm rot="0">
            <a:off x="988219" y="2523868"/>
            <a:ext cx="512207" cy="512216"/>
            <a:chOff x="0" y="0"/>
            <a:chExt cx="682942" cy="682955"/>
          </a:xfrm>
        </p:grpSpPr>
        <p:sp>
          <p:nvSpPr>
            <p:cNvPr name="Freeform 9" id="9"/>
            <p:cNvSpPr/>
            <p:nvPr/>
          </p:nvSpPr>
          <p:spPr>
            <a:xfrm flipH="false" flipV="false" rot="0">
              <a:off x="0" y="0"/>
              <a:ext cx="683006" cy="683006"/>
            </a:xfrm>
            <a:custGeom>
              <a:avLst/>
              <a:gdLst/>
              <a:ahLst/>
              <a:cxnLst/>
              <a:rect r="r" b="b" t="t" l="l"/>
              <a:pathLst>
                <a:path h="683006" w="683006">
                  <a:moveTo>
                    <a:pt x="0" y="127508"/>
                  </a:moveTo>
                  <a:cubicBezTo>
                    <a:pt x="0" y="57023"/>
                    <a:pt x="57023" y="0"/>
                    <a:pt x="127508" y="0"/>
                  </a:cubicBezTo>
                  <a:lnTo>
                    <a:pt x="555498" y="0"/>
                  </a:lnTo>
                  <a:cubicBezTo>
                    <a:pt x="625856" y="0"/>
                    <a:pt x="683006" y="57023"/>
                    <a:pt x="683006" y="127508"/>
                  </a:cubicBezTo>
                  <a:lnTo>
                    <a:pt x="683006" y="555498"/>
                  </a:lnTo>
                  <a:cubicBezTo>
                    <a:pt x="683006" y="625856"/>
                    <a:pt x="625983" y="683006"/>
                    <a:pt x="555498" y="683006"/>
                  </a:cubicBezTo>
                  <a:lnTo>
                    <a:pt x="127508" y="683006"/>
                  </a:lnTo>
                  <a:cubicBezTo>
                    <a:pt x="57023" y="683006"/>
                    <a:pt x="0" y="625856"/>
                    <a:pt x="0" y="555498"/>
                  </a:cubicBezTo>
                  <a:close/>
                </a:path>
              </a:pathLst>
            </a:custGeom>
            <a:solidFill>
              <a:srgbClr val="CCEEFF"/>
            </a:solidFill>
            <a:ln w="9532" cap="sq">
              <a:solidFill>
                <a:srgbClr val="B2D4E5"/>
              </a:solidFill>
              <a:prstDash val="solid"/>
              <a:miter/>
            </a:ln>
          </p:spPr>
        </p:sp>
      </p:grpSp>
      <p:grpSp>
        <p:nvGrpSpPr>
          <p:cNvPr name="Group 10" id="10"/>
          <p:cNvGrpSpPr/>
          <p:nvPr/>
        </p:nvGrpSpPr>
        <p:grpSpPr>
          <a:xfrm rot="0">
            <a:off x="1068353" y="2559987"/>
            <a:ext cx="351796" cy="439836"/>
            <a:chOff x="0" y="0"/>
            <a:chExt cx="469062" cy="586448"/>
          </a:xfrm>
        </p:grpSpPr>
        <p:sp>
          <p:nvSpPr>
            <p:cNvPr name="Freeform 11" id="11"/>
            <p:cNvSpPr/>
            <p:nvPr/>
          </p:nvSpPr>
          <p:spPr>
            <a:xfrm flipH="false" flipV="false" rot="0">
              <a:off x="0" y="0"/>
              <a:ext cx="469064" cy="586444"/>
            </a:xfrm>
            <a:custGeom>
              <a:avLst/>
              <a:gdLst/>
              <a:ahLst/>
              <a:cxnLst/>
              <a:rect r="r" b="b" t="t" l="l"/>
              <a:pathLst>
                <a:path h="586444" w="469064">
                  <a:moveTo>
                    <a:pt x="0" y="0"/>
                  </a:moveTo>
                  <a:lnTo>
                    <a:pt x="469064" y="0"/>
                  </a:lnTo>
                  <a:lnTo>
                    <a:pt x="469064" y="586444"/>
                  </a:lnTo>
                  <a:lnTo>
                    <a:pt x="0" y="586444"/>
                  </a:lnTo>
                  <a:close/>
                </a:path>
              </a:pathLst>
            </a:custGeom>
            <a:blipFill>
              <a:blip r:embed="rId4">
                <a:alphaModFix amt="0"/>
              </a:blip>
              <a:stretch>
                <a:fillRect l="-110411" t="0" r="-110411" b="0"/>
              </a:stretch>
            </a:blipFill>
          </p:spPr>
        </p:sp>
        <p:sp>
          <p:nvSpPr>
            <p:cNvPr name="TextBox 12" id="12"/>
            <p:cNvSpPr txBox="true"/>
            <p:nvPr/>
          </p:nvSpPr>
          <p:spPr>
            <a:xfrm>
              <a:off x="0" y="-9525"/>
              <a:ext cx="469062" cy="595973"/>
            </a:xfrm>
            <a:prstGeom prst="rect">
              <a:avLst/>
            </a:prstGeom>
          </p:spPr>
          <p:txBody>
            <a:bodyPr anchor="ctr" rtlCol="false" tIns="0" lIns="0" bIns="0" rIns="0"/>
            <a:lstStyle/>
            <a:p>
              <a:pPr algn="ctr">
                <a:lnSpc>
                  <a:spcPts val="3242"/>
                </a:lnSpc>
              </a:pPr>
              <a:r>
                <a:rPr lang="en-US" sz="2702" b="true">
                  <a:solidFill>
                    <a:srgbClr val="272525"/>
                  </a:solidFill>
                  <a:latin typeface="Petrona Bold"/>
                  <a:ea typeface="Petrona Bold"/>
                  <a:cs typeface="Petrona Bold"/>
                  <a:sym typeface="Petrona Bold"/>
                </a:rPr>
                <a:t>1</a:t>
              </a:r>
            </a:p>
          </p:txBody>
        </p:sp>
      </p:grpSp>
      <p:sp>
        <p:nvSpPr>
          <p:cNvPr name="TextBox 13" id="13"/>
          <p:cNvSpPr txBox="true"/>
          <p:nvPr/>
        </p:nvSpPr>
        <p:spPr>
          <a:xfrm rot="0">
            <a:off x="1696736" y="2586285"/>
            <a:ext cx="8024632" cy="385601"/>
          </a:xfrm>
          <a:prstGeom prst="rect">
            <a:avLst/>
          </a:prstGeom>
        </p:spPr>
        <p:txBody>
          <a:bodyPr anchor="t" rtlCol="false" tIns="0" lIns="0" bIns="0" rIns="0">
            <a:spAutoFit/>
          </a:bodyPr>
          <a:lstStyle/>
          <a:p>
            <a:pPr algn="l">
              <a:lnSpc>
                <a:spcPts val="2810"/>
              </a:lnSpc>
            </a:pPr>
            <a:r>
              <a:rPr lang="en-US" sz="2251" b="true">
                <a:solidFill>
                  <a:srgbClr val="272525"/>
                </a:solidFill>
                <a:latin typeface="Petrona Bold"/>
                <a:ea typeface="Petrona Bold"/>
                <a:cs typeface="Petrona Bold"/>
                <a:sym typeface="Petrona Bold"/>
              </a:rPr>
              <a:t>bcrypt Hash at Rest</a:t>
            </a:r>
          </a:p>
        </p:txBody>
      </p:sp>
      <p:sp>
        <p:nvSpPr>
          <p:cNvPr name="TextBox 14" id="14"/>
          <p:cNvSpPr txBox="true"/>
          <p:nvPr/>
        </p:nvSpPr>
        <p:spPr>
          <a:xfrm rot="0">
            <a:off x="1696736" y="3115818"/>
            <a:ext cx="8024632" cy="736340"/>
          </a:xfrm>
          <a:prstGeom prst="rect">
            <a:avLst/>
          </a:prstGeom>
        </p:spPr>
        <p:txBody>
          <a:bodyPr anchor="t" rtlCol="false" tIns="0" lIns="0" bIns="0" rIns="0">
            <a:spAutoFit/>
          </a:bodyPr>
          <a:lstStyle/>
          <a:p>
            <a:pPr algn="l">
              <a:lnSpc>
                <a:spcPts val="2630"/>
              </a:lnSpc>
            </a:pPr>
            <a:r>
              <a:rPr lang="en-US" sz="1726">
                <a:solidFill>
                  <a:srgbClr val="272525"/>
                </a:solidFill>
                <a:latin typeface="Inter"/>
                <a:ea typeface="Inter"/>
                <a:cs typeface="Inter"/>
                <a:sym typeface="Inter"/>
              </a:rPr>
              <a:t>Passwords are stored as bcrypt hashes in SQLite — the plaintext password is never persisted to disk. Verification occurs at login time only.</a:t>
            </a:r>
          </a:p>
        </p:txBody>
      </p:sp>
      <p:grpSp>
        <p:nvGrpSpPr>
          <p:cNvPr name="Group 15" id="15"/>
          <p:cNvGrpSpPr/>
          <p:nvPr/>
        </p:nvGrpSpPr>
        <p:grpSpPr>
          <a:xfrm rot="0">
            <a:off x="988219" y="4249531"/>
            <a:ext cx="512207" cy="512216"/>
            <a:chOff x="0" y="0"/>
            <a:chExt cx="682942" cy="682955"/>
          </a:xfrm>
        </p:grpSpPr>
        <p:sp>
          <p:nvSpPr>
            <p:cNvPr name="Freeform 16" id="16"/>
            <p:cNvSpPr/>
            <p:nvPr/>
          </p:nvSpPr>
          <p:spPr>
            <a:xfrm flipH="false" flipV="false" rot="0">
              <a:off x="0" y="0"/>
              <a:ext cx="683006" cy="683006"/>
            </a:xfrm>
            <a:custGeom>
              <a:avLst/>
              <a:gdLst/>
              <a:ahLst/>
              <a:cxnLst/>
              <a:rect r="r" b="b" t="t" l="l"/>
              <a:pathLst>
                <a:path h="683006" w="683006">
                  <a:moveTo>
                    <a:pt x="0" y="127508"/>
                  </a:moveTo>
                  <a:cubicBezTo>
                    <a:pt x="0" y="57023"/>
                    <a:pt x="57023" y="0"/>
                    <a:pt x="127508" y="0"/>
                  </a:cubicBezTo>
                  <a:lnTo>
                    <a:pt x="555498" y="0"/>
                  </a:lnTo>
                  <a:cubicBezTo>
                    <a:pt x="625856" y="0"/>
                    <a:pt x="683006" y="57023"/>
                    <a:pt x="683006" y="127508"/>
                  </a:cubicBezTo>
                  <a:lnTo>
                    <a:pt x="683006" y="555498"/>
                  </a:lnTo>
                  <a:cubicBezTo>
                    <a:pt x="683006" y="625856"/>
                    <a:pt x="625983" y="683006"/>
                    <a:pt x="555498" y="683006"/>
                  </a:cubicBezTo>
                  <a:lnTo>
                    <a:pt x="127508" y="683006"/>
                  </a:lnTo>
                  <a:cubicBezTo>
                    <a:pt x="57023" y="683006"/>
                    <a:pt x="0" y="625856"/>
                    <a:pt x="0" y="555498"/>
                  </a:cubicBezTo>
                  <a:close/>
                </a:path>
              </a:pathLst>
            </a:custGeom>
            <a:solidFill>
              <a:srgbClr val="CCEEFF"/>
            </a:solidFill>
            <a:ln w="9532" cap="sq">
              <a:solidFill>
                <a:srgbClr val="B2D4E5"/>
              </a:solidFill>
              <a:prstDash val="solid"/>
              <a:miter/>
            </a:ln>
          </p:spPr>
        </p:sp>
      </p:grpSp>
      <p:grpSp>
        <p:nvGrpSpPr>
          <p:cNvPr name="Group 17" id="17"/>
          <p:cNvGrpSpPr/>
          <p:nvPr/>
        </p:nvGrpSpPr>
        <p:grpSpPr>
          <a:xfrm rot="0">
            <a:off x="1068353" y="4285650"/>
            <a:ext cx="351796" cy="439836"/>
            <a:chOff x="0" y="0"/>
            <a:chExt cx="469062" cy="586448"/>
          </a:xfrm>
        </p:grpSpPr>
        <p:sp>
          <p:nvSpPr>
            <p:cNvPr name="Freeform 18" id="18"/>
            <p:cNvSpPr/>
            <p:nvPr/>
          </p:nvSpPr>
          <p:spPr>
            <a:xfrm flipH="false" flipV="false" rot="0">
              <a:off x="0" y="0"/>
              <a:ext cx="469064" cy="586444"/>
            </a:xfrm>
            <a:custGeom>
              <a:avLst/>
              <a:gdLst/>
              <a:ahLst/>
              <a:cxnLst/>
              <a:rect r="r" b="b" t="t" l="l"/>
              <a:pathLst>
                <a:path h="586444" w="469064">
                  <a:moveTo>
                    <a:pt x="0" y="0"/>
                  </a:moveTo>
                  <a:lnTo>
                    <a:pt x="469064" y="0"/>
                  </a:lnTo>
                  <a:lnTo>
                    <a:pt x="469064" y="586444"/>
                  </a:lnTo>
                  <a:lnTo>
                    <a:pt x="0" y="586444"/>
                  </a:lnTo>
                  <a:close/>
                </a:path>
              </a:pathLst>
            </a:custGeom>
            <a:blipFill>
              <a:blip r:embed="rId4">
                <a:alphaModFix amt="0"/>
              </a:blip>
              <a:stretch>
                <a:fillRect l="-110411" t="0" r="-110411" b="0"/>
              </a:stretch>
            </a:blipFill>
          </p:spPr>
        </p:sp>
        <p:sp>
          <p:nvSpPr>
            <p:cNvPr name="TextBox 19" id="19"/>
            <p:cNvSpPr txBox="true"/>
            <p:nvPr/>
          </p:nvSpPr>
          <p:spPr>
            <a:xfrm>
              <a:off x="0" y="-9525"/>
              <a:ext cx="469062" cy="595973"/>
            </a:xfrm>
            <a:prstGeom prst="rect">
              <a:avLst/>
            </a:prstGeom>
          </p:spPr>
          <p:txBody>
            <a:bodyPr anchor="ctr" rtlCol="false" tIns="0" lIns="0" bIns="0" rIns="0"/>
            <a:lstStyle/>
            <a:p>
              <a:pPr algn="ctr">
                <a:lnSpc>
                  <a:spcPts val="3242"/>
                </a:lnSpc>
              </a:pPr>
              <a:r>
                <a:rPr lang="en-US" sz="2702" b="true">
                  <a:solidFill>
                    <a:srgbClr val="272525"/>
                  </a:solidFill>
                  <a:latin typeface="Petrona Bold"/>
                  <a:ea typeface="Petrona Bold"/>
                  <a:cs typeface="Petrona Bold"/>
                  <a:sym typeface="Petrona Bold"/>
                </a:rPr>
                <a:t>2</a:t>
              </a:r>
            </a:p>
          </p:txBody>
        </p:sp>
      </p:grpSp>
      <p:sp>
        <p:nvSpPr>
          <p:cNvPr name="TextBox 20" id="20"/>
          <p:cNvSpPr txBox="true"/>
          <p:nvPr/>
        </p:nvSpPr>
        <p:spPr>
          <a:xfrm rot="0">
            <a:off x="1696736" y="4311958"/>
            <a:ext cx="8024632" cy="385601"/>
          </a:xfrm>
          <a:prstGeom prst="rect">
            <a:avLst/>
          </a:prstGeom>
        </p:spPr>
        <p:txBody>
          <a:bodyPr anchor="t" rtlCol="false" tIns="0" lIns="0" bIns="0" rIns="0">
            <a:spAutoFit/>
          </a:bodyPr>
          <a:lstStyle/>
          <a:p>
            <a:pPr algn="l">
              <a:lnSpc>
                <a:spcPts val="2810"/>
              </a:lnSpc>
            </a:pPr>
            <a:r>
              <a:rPr lang="en-US" sz="2251" b="true">
                <a:solidFill>
                  <a:srgbClr val="272525"/>
                </a:solidFill>
                <a:latin typeface="Petrona Bold"/>
                <a:ea typeface="Petrona Bold"/>
                <a:cs typeface="Petrona Bold"/>
                <a:sym typeface="Petrona Bold"/>
              </a:rPr>
              <a:t>JWT in the Browser</a:t>
            </a:r>
          </a:p>
        </p:txBody>
      </p:sp>
      <p:sp>
        <p:nvSpPr>
          <p:cNvPr name="TextBox 21" id="21"/>
          <p:cNvSpPr txBox="true"/>
          <p:nvPr/>
        </p:nvSpPr>
        <p:spPr>
          <a:xfrm rot="0">
            <a:off x="1696736" y="4841481"/>
            <a:ext cx="8024632" cy="736340"/>
          </a:xfrm>
          <a:prstGeom prst="rect">
            <a:avLst/>
          </a:prstGeom>
        </p:spPr>
        <p:txBody>
          <a:bodyPr anchor="t" rtlCol="false" tIns="0" lIns="0" bIns="0" rIns="0">
            <a:spAutoFit/>
          </a:bodyPr>
          <a:lstStyle/>
          <a:p>
            <a:pPr algn="l">
              <a:lnSpc>
                <a:spcPts val="2630"/>
              </a:lnSpc>
            </a:pPr>
            <a:r>
              <a:rPr lang="en-US" sz="1726">
                <a:solidFill>
                  <a:srgbClr val="272525"/>
                </a:solidFill>
                <a:latin typeface="Inter"/>
                <a:ea typeface="Inter"/>
                <a:cs typeface="Inter"/>
                <a:sym typeface="Inter"/>
              </a:rPr>
              <a:t>After successful login the browser receives a </a:t>
            </a:r>
            <a:r>
              <a:rPr lang="en-US" sz="1726" b="true">
                <a:solidFill>
                  <a:srgbClr val="272525"/>
                </a:solidFill>
                <a:latin typeface="Inter Bold"/>
                <a:ea typeface="Inter Bold"/>
                <a:cs typeface="Inter Bold"/>
                <a:sym typeface="Inter Bold"/>
              </a:rPr>
              <a:t>JWT token</a:t>
            </a:r>
            <a:r>
              <a:rPr lang="en-US" sz="1726">
                <a:solidFill>
                  <a:srgbClr val="272525"/>
                </a:solidFill>
                <a:latin typeface="Inter"/>
                <a:ea typeface="Inter"/>
                <a:cs typeface="Inter"/>
                <a:sym typeface="Inter"/>
              </a:rPr>
              <a:t> and retains it for the session. The plaintext password is discarded by the client immediately.</a:t>
            </a:r>
          </a:p>
        </p:txBody>
      </p:sp>
      <p:grpSp>
        <p:nvGrpSpPr>
          <p:cNvPr name="Group 22" id="22"/>
          <p:cNvGrpSpPr/>
          <p:nvPr/>
        </p:nvGrpSpPr>
        <p:grpSpPr>
          <a:xfrm rot="0">
            <a:off x="988219" y="5975204"/>
            <a:ext cx="512207" cy="512216"/>
            <a:chOff x="0" y="0"/>
            <a:chExt cx="682942" cy="682955"/>
          </a:xfrm>
        </p:grpSpPr>
        <p:sp>
          <p:nvSpPr>
            <p:cNvPr name="Freeform 23" id="23"/>
            <p:cNvSpPr/>
            <p:nvPr/>
          </p:nvSpPr>
          <p:spPr>
            <a:xfrm flipH="false" flipV="false" rot="0">
              <a:off x="0" y="0"/>
              <a:ext cx="683006" cy="683006"/>
            </a:xfrm>
            <a:custGeom>
              <a:avLst/>
              <a:gdLst/>
              <a:ahLst/>
              <a:cxnLst/>
              <a:rect r="r" b="b" t="t" l="l"/>
              <a:pathLst>
                <a:path h="683006" w="683006">
                  <a:moveTo>
                    <a:pt x="0" y="127508"/>
                  </a:moveTo>
                  <a:cubicBezTo>
                    <a:pt x="0" y="57023"/>
                    <a:pt x="57023" y="0"/>
                    <a:pt x="127508" y="0"/>
                  </a:cubicBezTo>
                  <a:lnTo>
                    <a:pt x="555498" y="0"/>
                  </a:lnTo>
                  <a:cubicBezTo>
                    <a:pt x="625856" y="0"/>
                    <a:pt x="683006" y="57023"/>
                    <a:pt x="683006" y="127508"/>
                  </a:cubicBezTo>
                  <a:lnTo>
                    <a:pt x="683006" y="555498"/>
                  </a:lnTo>
                  <a:cubicBezTo>
                    <a:pt x="683006" y="625856"/>
                    <a:pt x="625983" y="683006"/>
                    <a:pt x="555498" y="683006"/>
                  </a:cubicBezTo>
                  <a:lnTo>
                    <a:pt x="127508" y="683006"/>
                  </a:lnTo>
                  <a:cubicBezTo>
                    <a:pt x="57023" y="683006"/>
                    <a:pt x="0" y="625856"/>
                    <a:pt x="0" y="555498"/>
                  </a:cubicBezTo>
                  <a:close/>
                </a:path>
              </a:pathLst>
            </a:custGeom>
            <a:solidFill>
              <a:srgbClr val="CCEEFF"/>
            </a:solidFill>
            <a:ln w="9532" cap="sq">
              <a:solidFill>
                <a:srgbClr val="B2D4E5"/>
              </a:solidFill>
              <a:prstDash val="solid"/>
              <a:miter/>
            </a:ln>
          </p:spPr>
        </p:sp>
      </p:grpSp>
      <p:grpSp>
        <p:nvGrpSpPr>
          <p:cNvPr name="Group 24" id="24"/>
          <p:cNvGrpSpPr/>
          <p:nvPr/>
        </p:nvGrpSpPr>
        <p:grpSpPr>
          <a:xfrm rot="0">
            <a:off x="1068353" y="6011323"/>
            <a:ext cx="351796" cy="439836"/>
            <a:chOff x="0" y="0"/>
            <a:chExt cx="469062" cy="586448"/>
          </a:xfrm>
        </p:grpSpPr>
        <p:sp>
          <p:nvSpPr>
            <p:cNvPr name="Freeform 25" id="25"/>
            <p:cNvSpPr/>
            <p:nvPr/>
          </p:nvSpPr>
          <p:spPr>
            <a:xfrm flipH="false" flipV="false" rot="0">
              <a:off x="0" y="0"/>
              <a:ext cx="469064" cy="586444"/>
            </a:xfrm>
            <a:custGeom>
              <a:avLst/>
              <a:gdLst/>
              <a:ahLst/>
              <a:cxnLst/>
              <a:rect r="r" b="b" t="t" l="l"/>
              <a:pathLst>
                <a:path h="586444" w="469064">
                  <a:moveTo>
                    <a:pt x="0" y="0"/>
                  </a:moveTo>
                  <a:lnTo>
                    <a:pt x="469064" y="0"/>
                  </a:lnTo>
                  <a:lnTo>
                    <a:pt x="469064" y="586444"/>
                  </a:lnTo>
                  <a:lnTo>
                    <a:pt x="0" y="586444"/>
                  </a:lnTo>
                  <a:close/>
                </a:path>
              </a:pathLst>
            </a:custGeom>
            <a:blipFill>
              <a:blip r:embed="rId4">
                <a:alphaModFix amt="0"/>
              </a:blip>
              <a:stretch>
                <a:fillRect l="-110411" t="0" r="-110411" b="0"/>
              </a:stretch>
            </a:blipFill>
          </p:spPr>
        </p:sp>
        <p:sp>
          <p:nvSpPr>
            <p:cNvPr name="TextBox 26" id="26"/>
            <p:cNvSpPr txBox="true"/>
            <p:nvPr/>
          </p:nvSpPr>
          <p:spPr>
            <a:xfrm>
              <a:off x="0" y="-9525"/>
              <a:ext cx="469062" cy="595973"/>
            </a:xfrm>
            <a:prstGeom prst="rect">
              <a:avLst/>
            </a:prstGeom>
          </p:spPr>
          <p:txBody>
            <a:bodyPr anchor="ctr" rtlCol="false" tIns="0" lIns="0" bIns="0" rIns="0"/>
            <a:lstStyle/>
            <a:p>
              <a:pPr algn="ctr">
                <a:lnSpc>
                  <a:spcPts val="3242"/>
                </a:lnSpc>
              </a:pPr>
              <a:r>
                <a:rPr lang="en-US" sz="2702" b="true">
                  <a:solidFill>
                    <a:srgbClr val="272525"/>
                  </a:solidFill>
                  <a:latin typeface="Petrona Bold"/>
                  <a:ea typeface="Petrona Bold"/>
                  <a:cs typeface="Petrona Bold"/>
                  <a:sym typeface="Petrona Bold"/>
                </a:rPr>
                <a:t>3</a:t>
              </a:r>
            </a:p>
          </p:txBody>
        </p:sp>
      </p:grpSp>
      <p:sp>
        <p:nvSpPr>
          <p:cNvPr name="TextBox 27" id="27"/>
          <p:cNvSpPr txBox="true"/>
          <p:nvPr/>
        </p:nvSpPr>
        <p:spPr>
          <a:xfrm rot="0">
            <a:off x="1696736" y="6037631"/>
            <a:ext cx="8024632" cy="385601"/>
          </a:xfrm>
          <a:prstGeom prst="rect">
            <a:avLst/>
          </a:prstGeom>
        </p:spPr>
        <p:txBody>
          <a:bodyPr anchor="t" rtlCol="false" tIns="0" lIns="0" bIns="0" rIns="0">
            <a:spAutoFit/>
          </a:bodyPr>
          <a:lstStyle/>
          <a:p>
            <a:pPr algn="l">
              <a:lnSpc>
                <a:spcPts val="2810"/>
              </a:lnSpc>
            </a:pPr>
            <a:r>
              <a:rPr lang="en-US" sz="2251" b="true">
                <a:solidFill>
                  <a:srgbClr val="272525"/>
                </a:solidFill>
                <a:latin typeface="Petrona Bold"/>
                <a:ea typeface="Petrona Bold"/>
                <a:cs typeface="Petrona Bold"/>
                <a:sym typeface="Petrona Bold"/>
              </a:rPr>
              <a:t>TCP AUTH Relay</a:t>
            </a:r>
          </a:p>
        </p:txBody>
      </p:sp>
      <p:sp>
        <p:nvSpPr>
          <p:cNvPr name="TextBox 28" id="28"/>
          <p:cNvSpPr txBox="true"/>
          <p:nvPr/>
        </p:nvSpPr>
        <p:spPr>
          <a:xfrm rot="0">
            <a:off x="1696736" y="6567154"/>
            <a:ext cx="8024632" cy="1075934"/>
          </a:xfrm>
          <a:prstGeom prst="rect">
            <a:avLst/>
          </a:prstGeom>
        </p:spPr>
        <p:txBody>
          <a:bodyPr anchor="t" rtlCol="false" tIns="0" lIns="0" bIns="0" rIns="0">
            <a:spAutoFit/>
          </a:bodyPr>
          <a:lstStyle/>
          <a:p>
            <a:pPr algn="l">
              <a:lnSpc>
                <a:spcPts val="2630"/>
              </a:lnSpc>
            </a:pPr>
            <a:r>
              <a:rPr lang="en-US" sz="1726">
                <a:solidFill>
                  <a:srgbClr val="272525"/>
                </a:solidFill>
                <a:latin typeface="Inter"/>
                <a:ea typeface="Inter"/>
                <a:cs typeface="Inter"/>
                <a:sym typeface="Inter"/>
              </a:rPr>
              <a:t>The FastAPI control plane temporarily holds the password to perform AUTH &lt;user&gt; &lt;password&gt; over TCP. The credential is dropped from memory on sign-out.</a:t>
            </a:r>
          </a:p>
        </p:txBody>
      </p:sp>
      <p:grpSp>
        <p:nvGrpSpPr>
          <p:cNvPr name="Group 29" id="29"/>
          <p:cNvGrpSpPr/>
          <p:nvPr/>
        </p:nvGrpSpPr>
        <p:grpSpPr>
          <a:xfrm rot="0">
            <a:off x="988219" y="8040472"/>
            <a:ext cx="512207" cy="512216"/>
            <a:chOff x="0" y="0"/>
            <a:chExt cx="682942" cy="682955"/>
          </a:xfrm>
        </p:grpSpPr>
        <p:sp>
          <p:nvSpPr>
            <p:cNvPr name="Freeform 30" id="30"/>
            <p:cNvSpPr/>
            <p:nvPr/>
          </p:nvSpPr>
          <p:spPr>
            <a:xfrm flipH="false" flipV="false" rot="0">
              <a:off x="0" y="0"/>
              <a:ext cx="683006" cy="683006"/>
            </a:xfrm>
            <a:custGeom>
              <a:avLst/>
              <a:gdLst/>
              <a:ahLst/>
              <a:cxnLst/>
              <a:rect r="r" b="b" t="t" l="l"/>
              <a:pathLst>
                <a:path h="683006" w="683006">
                  <a:moveTo>
                    <a:pt x="0" y="127508"/>
                  </a:moveTo>
                  <a:cubicBezTo>
                    <a:pt x="0" y="57023"/>
                    <a:pt x="57023" y="0"/>
                    <a:pt x="127508" y="0"/>
                  </a:cubicBezTo>
                  <a:lnTo>
                    <a:pt x="555498" y="0"/>
                  </a:lnTo>
                  <a:cubicBezTo>
                    <a:pt x="625856" y="0"/>
                    <a:pt x="683006" y="57023"/>
                    <a:pt x="683006" y="127508"/>
                  </a:cubicBezTo>
                  <a:lnTo>
                    <a:pt x="683006" y="555498"/>
                  </a:lnTo>
                  <a:cubicBezTo>
                    <a:pt x="683006" y="625856"/>
                    <a:pt x="625983" y="683006"/>
                    <a:pt x="555498" y="683006"/>
                  </a:cubicBezTo>
                  <a:lnTo>
                    <a:pt x="127508" y="683006"/>
                  </a:lnTo>
                  <a:cubicBezTo>
                    <a:pt x="57023" y="683006"/>
                    <a:pt x="0" y="625856"/>
                    <a:pt x="0" y="555498"/>
                  </a:cubicBezTo>
                  <a:close/>
                </a:path>
              </a:pathLst>
            </a:custGeom>
            <a:solidFill>
              <a:srgbClr val="CCEEFF"/>
            </a:solidFill>
            <a:ln w="9532" cap="sq">
              <a:solidFill>
                <a:srgbClr val="B2D4E5"/>
              </a:solidFill>
              <a:prstDash val="solid"/>
              <a:miter/>
            </a:ln>
          </p:spPr>
        </p:sp>
      </p:grpSp>
      <p:grpSp>
        <p:nvGrpSpPr>
          <p:cNvPr name="Group 31" id="31"/>
          <p:cNvGrpSpPr/>
          <p:nvPr/>
        </p:nvGrpSpPr>
        <p:grpSpPr>
          <a:xfrm rot="0">
            <a:off x="1068353" y="8076590"/>
            <a:ext cx="351796" cy="439836"/>
            <a:chOff x="0" y="0"/>
            <a:chExt cx="469062" cy="586448"/>
          </a:xfrm>
        </p:grpSpPr>
        <p:sp>
          <p:nvSpPr>
            <p:cNvPr name="Freeform 32" id="32"/>
            <p:cNvSpPr/>
            <p:nvPr/>
          </p:nvSpPr>
          <p:spPr>
            <a:xfrm flipH="false" flipV="false" rot="0">
              <a:off x="0" y="0"/>
              <a:ext cx="469064" cy="586444"/>
            </a:xfrm>
            <a:custGeom>
              <a:avLst/>
              <a:gdLst/>
              <a:ahLst/>
              <a:cxnLst/>
              <a:rect r="r" b="b" t="t" l="l"/>
              <a:pathLst>
                <a:path h="586444" w="469064">
                  <a:moveTo>
                    <a:pt x="0" y="0"/>
                  </a:moveTo>
                  <a:lnTo>
                    <a:pt x="469064" y="0"/>
                  </a:lnTo>
                  <a:lnTo>
                    <a:pt x="469064" y="586444"/>
                  </a:lnTo>
                  <a:lnTo>
                    <a:pt x="0" y="586444"/>
                  </a:lnTo>
                  <a:close/>
                </a:path>
              </a:pathLst>
            </a:custGeom>
            <a:blipFill>
              <a:blip r:embed="rId4">
                <a:alphaModFix amt="0"/>
              </a:blip>
              <a:stretch>
                <a:fillRect l="-110411" t="0" r="-110411" b="0"/>
              </a:stretch>
            </a:blipFill>
          </p:spPr>
        </p:sp>
        <p:sp>
          <p:nvSpPr>
            <p:cNvPr name="TextBox 33" id="33"/>
            <p:cNvSpPr txBox="true"/>
            <p:nvPr/>
          </p:nvSpPr>
          <p:spPr>
            <a:xfrm>
              <a:off x="0" y="-9525"/>
              <a:ext cx="469062" cy="595973"/>
            </a:xfrm>
            <a:prstGeom prst="rect">
              <a:avLst/>
            </a:prstGeom>
          </p:spPr>
          <p:txBody>
            <a:bodyPr anchor="ctr" rtlCol="false" tIns="0" lIns="0" bIns="0" rIns="0"/>
            <a:lstStyle/>
            <a:p>
              <a:pPr algn="ctr">
                <a:lnSpc>
                  <a:spcPts val="3242"/>
                </a:lnSpc>
              </a:pPr>
              <a:r>
                <a:rPr lang="en-US" sz="2702" b="true">
                  <a:solidFill>
                    <a:srgbClr val="272525"/>
                  </a:solidFill>
                  <a:latin typeface="Petrona Bold"/>
                  <a:ea typeface="Petrona Bold"/>
                  <a:cs typeface="Petrona Bold"/>
                  <a:sym typeface="Petrona Bold"/>
                </a:rPr>
                <a:t>4</a:t>
              </a:r>
            </a:p>
          </p:txBody>
        </p:sp>
      </p:grpSp>
      <p:sp>
        <p:nvSpPr>
          <p:cNvPr name="TextBox 34" id="34"/>
          <p:cNvSpPr txBox="true"/>
          <p:nvPr/>
        </p:nvSpPr>
        <p:spPr>
          <a:xfrm rot="0">
            <a:off x="1696736" y="8102889"/>
            <a:ext cx="8024632" cy="385601"/>
          </a:xfrm>
          <a:prstGeom prst="rect">
            <a:avLst/>
          </a:prstGeom>
        </p:spPr>
        <p:txBody>
          <a:bodyPr anchor="t" rtlCol="false" tIns="0" lIns="0" bIns="0" rIns="0">
            <a:spAutoFit/>
          </a:bodyPr>
          <a:lstStyle/>
          <a:p>
            <a:pPr algn="l">
              <a:lnSpc>
                <a:spcPts val="2810"/>
              </a:lnSpc>
            </a:pPr>
            <a:r>
              <a:rPr lang="en-US" sz="2251" b="true">
                <a:solidFill>
                  <a:srgbClr val="272525"/>
                </a:solidFill>
                <a:latin typeface="Petrona Bold"/>
                <a:ea typeface="Petrona Bold"/>
                <a:cs typeface="Petrona Bold"/>
                <a:sym typeface="Petrona Bold"/>
              </a:rPr>
              <a:t>WebSocket JWT Handshake</a:t>
            </a:r>
          </a:p>
        </p:txBody>
      </p:sp>
      <p:sp>
        <p:nvSpPr>
          <p:cNvPr name="TextBox 35" id="35"/>
          <p:cNvSpPr txBox="true"/>
          <p:nvPr/>
        </p:nvSpPr>
        <p:spPr>
          <a:xfrm rot="0">
            <a:off x="1696736" y="8632422"/>
            <a:ext cx="8024632" cy="736340"/>
          </a:xfrm>
          <a:prstGeom prst="rect">
            <a:avLst/>
          </a:prstGeom>
        </p:spPr>
        <p:txBody>
          <a:bodyPr anchor="t" rtlCol="false" tIns="0" lIns="0" bIns="0" rIns="0">
            <a:spAutoFit/>
          </a:bodyPr>
          <a:lstStyle/>
          <a:p>
            <a:pPr algn="l">
              <a:lnSpc>
                <a:spcPts val="2630"/>
              </a:lnSpc>
            </a:pPr>
            <a:r>
              <a:rPr lang="en-US" sz="1726">
                <a:solidFill>
                  <a:srgbClr val="272525"/>
                </a:solidFill>
                <a:latin typeface="Inter"/>
                <a:ea typeface="Inter"/>
                <a:cs typeface="Inter"/>
                <a:sym typeface="Inter"/>
              </a:rPr>
              <a:t>/ws/transfers receives the JWT token in the </a:t>
            </a:r>
            <a:r>
              <a:rPr lang="en-US" sz="1726" b="true">
                <a:solidFill>
                  <a:srgbClr val="272525"/>
                </a:solidFill>
                <a:latin typeface="Inter Bold"/>
                <a:ea typeface="Inter Bold"/>
                <a:cs typeface="Inter Bold"/>
                <a:sym typeface="Inter Bold"/>
              </a:rPr>
              <a:t>first text frame</a:t>
            </a:r>
            <a:r>
              <a:rPr lang="en-US" sz="1726">
                <a:solidFill>
                  <a:srgbClr val="272525"/>
                </a:solidFill>
                <a:latin typeface="Inter"/>
                <a:ea typeface="Inter"/>
                <a:cs typeface="Inter"/>
                <a:sym typeface="Inter"/>
              </a:rPr>
              <a:t>; the server validates it and responds with ready before streaming progress events.</a:t>
            </a:r>
          </a:p>
        </p:txBody>
      </p:sp>
      <p:grpSp>
        <p:nvGrpSpPr>
          <p:cNvPr name="Group 36" id="36"/>
          <p:cNvGrpSpPr/>
          <p:nvPr/>
        </p:nvGrpSpPr>
        <p:grpSpPr>
          <a:xfrm rot="0">
            <a:off x="10261721" y="1946700"/>
            <a:ext cx="3449174" cy="3817001"/>
            <a:chOff x="0" y="0"/>
            <a:chExt cx="4598899" cy="5089334"/>
          </a:xfrm>
        </p:grpSpPr>
        <p:sp>
          <p:nvSpPr>
            <p:cNvPr name="Freeform 37" id="37"/>
            <p:cNvSpPr/>
            <p:nvPr/>
          </p:nvSpPr>
          <p:spPr>
            <a:xfrm flipH="false" flipV="false" rot="0">
              <a:off x="0" y="0"/>
              <a:ext cx="4598924" cy="5089398"/>
            </a:xfrm>
            <a:custGeom>
              <a:avLst/>
              <a:gdLst/>
              <a:ahLst/>
              <a:cxnLst/>
              <a:rect r="r" b="b" t="t" l="l"/>
              <a:pathLst>
                <a:path h="5089398" w="4598924">
                  <a:moveTo>
                    <a:pt x="0" y="126238"/>
                  </a:moveTo>
                  <a:cubicBezTo>
                    <a:pt x="0" y="56515"/>
                    <a:pt x="56515" y="0"/>
                    <a:pt x="126238" y="0"/>
                  </a:cubicBezTo>
                  <a:lnTo>
                    <a:pt x="4472686" y="0"/>
                  </a:lnTo>
                  <a:cubicBezTo>
                    <a:pt x="4542409" y="0"/>
                    <a:pt x="4598924" y="56515"/>
                    <a:pt x="4598924" y="126238"/>
                  </a:cubicBezTo>
                  <a:lnTo>
                    <a:pt x="4598924" y="4963160"/>
                  </a:lnTo>
                  <a:cubicBezTo>
                    <a:pt x="4598924" y="5032883"/>
                    <a:pt x="4542409" y="5089398"/>
                    <a:pt x="4472686" y="5089398"/>
                  </a:cubicBezTo>
                  <a:lnTo>
                    <a:pt x="126238" y="5089398"/>
                  </a:lnTo>
                  <a:cubicBezTo>
                    <a:pt x="56515" y="5089398"/>
                    <a:pt x="0" y="5032883"/>
                    <a:pt x="0" y="4963160"/>
                  </a:cubicBezTo>
                  <a:close/>
                </a:path>
              </a:pathLst>
            </a:custGeom>
            <a:solidFill>
              <a:srgbClr val="FFFFFF">
                <a:alpha val="90196"/>
              </a:srgbClr>
            </a:solidFill>
            <a:ln w="28597" cap="sq">
              <a:solidFill>
                <a:srgbClr val="B2D4E5"/>
              </a:solidFill>
              <a:prstDash val="solid"/>
              <a:miter/>
            </a:ln>
          </p:spPr>
        </p:sp>
      </p:grpSp>
      <p:sp>
        <p:nvSpPr>
          <p:cNvPr name="TextBox 38" id="38"/>
          <p:cNvSpPr txBox="true"/>
          <p:nvPr/>
        </p:nvSpPr>
        <p:spPr>
          <a:xfrm rot="0">
            <a:off x="10528030" y="2193969"/>
            <a:ext cx="2916555" cy="385601"/>
          </a:xfrm>
          <a:prstGeom prst="rect">
            <a:avLst/>
          </a:prstGeom>
        </p:spPr>
        <p:txBody>
          <a:bodyPr anchor="t" rtlCol="false" tIns="0" lIns="0" bIns="0" rIns="0">
            <a:spAutoFit/>
          </a:bodyPr>
          <a:lstStyle/>
          <a:p>
            <a:pPr algn="l">
              <a:lnSpc>
                <a:spcPts val="2810"/>
              </a:lnSpc>
            </a:pPr>
            <a:r>
              <a:rPr lang="en-US" sz="2251" b="true">
                <a:solidFill>
                  <a:srgbClr val="272525"/>
                </a:solidFill>
                <a:latin typeface="Petrona Bold"/>
                <a:ea typeface="Petrona Bold"/>
                <a:cs typeface="Petrona Bold"/>
                <a:sym typeface="Petrona Bold"/>
              </a:rPr>
              <a:t>Per-User Sandbox</a:t>
            </a:r>
          </a:p>
        </p:txBody>
      </p:sp>
      <p:sp>
        <p:nvSpPr>
          <p:cNvPr name="TextBox 39" id="39"/>
          <p:cNvSpPr txBox="true"/>
          <p:nvPr/>
        </p:nvSpPr>
        <p:spPr>
          <a:xfrm rot="0">
            <a:off x="10528030" y="2723493"/>
            <a:ext cx="2916555" cy="2773899"/>
          </a:xfrm>
          <a:prstGeom prst="rect">
            <a:avLst/>
          </a:prstGeom>
        </p:spPr>
        <p:txBody>
          <a:bodyPr anchor="t" rtlCol="false" tIns="0" lIns="0" bIns="0" rIns="0">
            <a:spAutoFit/>
          </a:bodyPr>
          <a:lstStyle/>
          <a:p>
            <a:pPr algn="l">
              <a:lnSpc>
                <a:spcPts val="2630"/>
              </a:lnSpc>
            </a:pPr>
            <a:r>
              <a:rPr lang="en-US" sz="1726">
                <a:solidFill>
                  <a:srgbClr val="272525"/>
                </a:solidFill>
                <a:latin typeface="Inter"/>
                <a:ea typeface="Inter"/>
                <a:cs typeface="Inter"/>
                <a:sym typeface="Inter"/>
              </a:rPr>
              <a:t>Every account is isolated inside users/&lt;account&gt;/. The TCP server resolves every path and verifies the canonical result stays within the account directory. Escape attempts return </a:t>
            </a:r>
            <a:r>
              <a:rPr lang="en-US" sz="1726" b="true">
                <a:solidFill>
                  <a:srgbClr val="272525"/>
                </a:solidFill>
                <a:latin typeface="Inter Bold"/>
                <a:ea typeface="Inter Bold"/>
                <a:cs typeface="Inter Bold"/>
                <a:sym typeface="Inter Bold"/>
              </a:rPr>
              <a:t>553</a:t>
            </a:r>
            <a:r>
              <a:rPr lang="en-US" sz="1726">
                <a:solidFill>
                  <a:srgbClr val="272525"/>
                </a:solidFill>
                <a:latin typeface="Inter"/>
                <a:ea typeface="Inter"/>
                <a:cs typeface="Inter"/>
                <a:sym typeface="Inter"/>
              </a:rPr>
              <a:t>.</a:t>
            </a:r>
          </a:p>
        </p:txBody>
      </p:sp>
      <p:grpSp>
        <p:nvGrpSpPr>
          <p:cNvPr name="Group 40" id="40"/>
          <p:cNvGrpSpPr/>
          <p:nvPr/>
        </p:nvGrpSpPr>
        <p:grpSpPr>
          <a:xfrm rot="0">
            <a:off x="13883364" y="1946700"/>
            <a:ext cx="3449174" cy="3817001"/>
            <a:chOff x="0" y="0"/>
            <a:chExt cx="4598899" cy="5089334"/>
          </a:xfrm>
        </p:grpSpPr>
        <p:sp>
          <p:nvSpPr>
            <p:cNvPr name="Freeform 41" id="41"/>
            <p:cNvSpPr/>
            <p:nvPr/>
          </p:nvSpPr>
          <p:spPr>
            <a:xfrm flipH="false" flipV="false" rot="0">
              <a:off x="0" y="0"/>
              <a:ext cx="4598924" cy="5089398"/>
            </a:xfrm>
            <a:custGeom>
              <a:avLst/>
              <a:gdLst/>
              <a:ahLst/>
              <a:cxnLst/>
              <a:rect r="r" b="b" t="t" l="l"/>
              <a:pathLst>
                <a:path h="5089398" w="4598924">
                  <a:moveTo>
                    <a:pt x="0" y="126238"/>
                  </a:moveTo>
                  <a:cubicBezTo>
                    <a:pt x="0" y="56515"/>
                    <a:pt x="56515" y="0"/>
                    <a:pt x="126238" y="0"/>
                  </a:cubicBezTo>
                  <a:lnTo>
                    <a:pt x="4472686" y="0"/>
                  </a:lnTo>
                  <a:cubicBezTo>
                    <a:pt x="4542409" y="0"/>
                    <a:pt x="4598924" y="56515"/>
                    <a:pt x="4598924" y="126238"/>
                  </a:cubicBezTo>
                  <a:lnTo>
                    <a:pt x="4598924" y="4963160"/>
                  </a:lnTo>
                  <a:cubicBezTo>
                    <a:pt x="4598924" y="5032883"/>
                    <a:pt x="4542409" y="5089398"/>
                    <a:pt x="4472686" y="5089398"/>
                  </a:cubicBezTo>
                  <a:lnTo>
                    <a:pt x="126238" y="5089398"/>
                  </a:lnTo>
                  <a:cubicBezTo>
                    <a:pt x="56515" y="5089398"/>
                    <a:pt x="0" y="5032883"/>
                    <a:pt x="0" y="4963160"/>
                  </a:cubicBezTo>
                  <a:close/>
                </a:path>
              </a:pathLst>
            </a:custGeom>
            <a:solidFill>
              <a:srgbClr val="FFFFFF">
                <a:alpha val="90196"/>
              </a:srgbClr>
            </a:solidFill>
            <a:ln w="28597" cap="sq">
              <a:solidFill>
                <a:srgbClr val="B2D4E5"/>
              </a:solidFill>
              <a:prstDash val="solid"/>
              <a:miter/>
            </a:ln>
          </p:spPr>
        </p:sp>
      </p:grpSp>
      <p:sp>
        <p:nvSpPr>
          <p:cNvPr name="TextBox 42" id="42"/>
          <p:cNvSpPr txBox="true"/>
          <p:nvPr/>
        </p:nvSpPr>
        <p:spPr>
          <a:xfrm rot="0">
            <a:off x="14149673" y="2193969"/>
            <a:ext cx="2916555" cy="385601"/>
          </a:xfrm>
          <a:prstGeom prst="rect">
            <a:avLst/>
          </a:prstGeom>
        </p:spPr>
        <p:txBody>
          <a:bodyPr anchor="t" rtlCol="false" tIns="0" lIns="0" bIns="0" rIns="0">
            <a:spAutoFit/>
          </a:bodyPr>
          <a:lstStyle/>
          <a:p>
            <a:pPr algn="l">
              <a:lnSpc>
                <a:spcPts val="2810"/>
              </a:lnSpc>
            </a:pPr>
            <a:r>
              <a:rPr lang="en-US" sz="2251" b="true">
                <a:solidFill>
                  <a:srgbClr val="272525"/>
                </a:solidFill>
                <a:latin typeface="Petrona Bold"/>
                <a:ea typeface="Petrona Bold"/>
                <a:cs typeface="Petrona Bold"/>
                <a:sym typeface="Petrona Bold"/>
              </a:rPr>
              <a:t>No TLS — By Design</a:t>
            </a:r>
          </a:p>
        </p:txBody>
      </p:sp>
      <p:sp>
        <p:nvSpPr>
          <p:cNvPr name="TextBox 43" id="43"/>
          <p:cNvSpPr txBox="true"/>
          <p:nvPr/>
        </p:nvSpPr>
        <p:spPr>
          <a:xfrm rot="0">
            <a:off x="14149673" y="2723493"/>
            <a:ext cx="2916555" cy="2773899"/>
          </a:xfrm>
          <a:prstGeom prst="rect">
            <a:avLst/>
          </a:prstGeom>
        </p:spPr>
        <p:txBody>
          <a:bodyPr anchor="t" rtlCol="false" tIns="0" lIns="0" bIns="0" rIns="0">
            <a:spAutoFit/>
          </a:bodyPr>
          <a:lstStyle/>
          <a:p>
            <a:pPr algn="l">
              <a:lnSpc>
                <a:spcPts val="2630"/>
              </a:lnSpc>
            </a:pPr>
            <a:r>
              <a:rPr lang="en-US" sz="1726">
                <a:solidFill>
                  <a:srgbClr val="272525"/>
                </a:solidFill>
                <a:latin typeface="Inter"/>
                <a:ea typeface="Inter"/>
                <a:cs typeface="Inter"/>
                <a:sym typeface="Inter"/>
              </a:rPr>
              <a:t>The lab intentionally omits TLS so that AUTH traffic, file contents, and token frames are </a:t>
            </a:r>
            <a:r>
              <a:rPr lang="en-US" sz="1726" b="true">
                <a:solidFill>
                  <a:srgbClr val="272525"/>
                </a:solidFill>
                <a:latin typeface="Inter Bold"/>
                <a:ea typeface="Inter Bold"/>
                <a:cs typeface="Inter Bold"/>
                <a:sym typeface="Inter Bold"/>
              </a:rPr>
              <a:t>fully visible on the loopback interface</a:t>
            </a:r>
            <a:r>
              <a:rPr lang="en-US" sz="1726">
                <a:solidFill>
                  <a:srgbClr val="272525"/>
                </a:solidFill>
                <a:latin typeface="Inter"/>
                <a:ea typeface="Inter"/>
                <a:cs typeface="Inter"/>
                <a:sym typeface="Inter"/>
              </a:rPr>
              <a:t>. This is the mechanism that makes Wireshark demonstration meaningful.</a:t>
            </a:r>
          </a:p>
        </p:txBody>
      </p:sp>
      <p:grpSp>
        <p:nvGrpSpPr>
          <p:cNvPr name="Group 44" id="44"/>
          <p:cNvGrpSpPr/>
          <p:nvPr/>
        </p:nvGrpSpPr>
        <p:grpSpPr>
          <a:xfrm rot="0">
            <a:off x="10276018" y="5975652"/>
            <a:ext cx="7042214" cy="1492425"/>
            <a:chOff x="0" y="0"/>
            <a:chExt cx="9389618" cy="1989900"/>
          </a:xfrm>
        </p:grpSpPr>
        <p:sp>
          <p:nvSpPr>
            <p:cNvPr name="Freeform 45" id="45"/>
            <p:cNvSpPr/>
            <p:nvPr/>
          </p:nvSpPr>
          <p:spPr>
            <a:xfrm flipH="false" flipV="false" rot="0">
              <a:off x="0" y="0"/>
              <a:ext cx="9389618" cy="1989836"/>
            </a:xfrm>
            <a:custGeom>
              <a:avLst/>
              <a:gdLst/>
              <a:ahLst/>
              <a:cxnLst/>
              <a:rect r="r" b="b" t="t" l="l"/>
              <a:pathLst>
                <a:path h="1989836" w="9389618">
                  <a:moveTo>
                    <a:pt x="0" y="125095"/>
                  </a:moveTo>
                  <a:cubicBezTo>
                    <a:pt x="0" y="56007"/>
                    <a:pt x="56007" y="0"/>
                    <a:pt x="125095" y="0"/>
                  </a:cubicBezTo>
                  <a:lnTo>
                    <a:pt x="9264523" y="0"/>
                  </a:lnTo>
                  <a:cubicBezTo>
                    <a:pt x="9333611" y="0"/>
                    <a:pt x="9389618" y="56007"/>
                    <a:pt x="9389618" y="125095"/>
                  </a:cubicBezTo>
                  <a:lnTo>
                    <a:pt x="9389618" y="1864741"/>
                  </a:lnTo>
                  <a:cubicBezTo>
                    <a:pt x="9389618" y="1933829"/>
                    <a:pt x="9333611" y="1989836"/>
                    <a:pt x="9264523" y="1989836"/>
                  </a:cubicBezTo>
                  <a:lnTo>
                    <a:pt x="125095" y="1989836"/>
                  </a:lnTo>
                  <a:cubicBezTo>
                    <a:pt x="56007" y="1989836"/>
                    <a:pt x="0" y="1933829"/>
                    <a:pt x="0" y="1864741"/>
                  </a:cubicBezTo>
                  <a:close/>
                </a:path>
              </a:pathLst>
            </a:custGeom>
            <a:solidFill>
              <a:srgbClr val="FCF2B5"/>
            </a:solidFill>
          </p:spPr>
        </p:sp>
      </p:grpSp>
      <p:grpSp>
        <p:nvGrpSpPr>
          <p:cNvPr name="Group 46" id="46"/>
          <p:cNvGrpSpPr/>
          <p:nvPr/>
        </p:nvGrpSpPr>
        <p:grpSpPr>
          <a:xfrm rot="0">
            <a:off x="10499427" y="6284862"/>
            <a:ext cx="279263" cy="223418"/>
            <a:chOff x="0" y="0"/>
            <a:chExt cx="372351" cy="297891"/>
          </a:xfrm>
        </p:grpSpPr>
        <p:sp>
          <p:nvSpPr>
            <p:cNvPr name="Freeform 47" id="47" descr="preencoded.png"/>
            <p:cNvSpPr/>
            <p:nvPr/>
          </p:nvSpPr>
          <p:spPr>
            <a:xfrm flipH="false" flipV="false" rot="0">
              <a:off x="0" y="0"/>
              <a:ext cx="372364" cy="297942"/>
            </a:xfrm>
            <a:custGeom>
              <a:avLst/>
              <a:gdLst/>
              <a:ahLst/>
              <a:cxnLst/>
              <a:rect r="r" b="b" t="t" l="l"/>
              <a:pathLst>
                <a:path h="297942" w="372364">
                  <a:moveTo>
                    <a:pt x="0" y="0"/>
                  </a:moveTo>
                  <a:lnTo>
                    <a:pt x="372364" y="0"/>
                  </a:lnTo>
                  <a:lnTo>
                    <a:pt x="372364" y="297942"/>
                  </a:lnTo>
                  <a:lnTo>
                    <a:pt x="0" y="297942"/>
                  </a:lnTo>
                  <a:lnTo>
                    <a:pt x="0" y="0"/>
                  </a:lnTo>
                  <a:close/>
                </a:path>
              </a:pathLst>
            </a:custGeom>
            <a:blipFill>
              <a:blip r:embed="rId5"/>
              <a:stretch>
                <a:fillRect l="-1" t="0" r="1" b="17"/>
              </a:stretch>
            </a:blipFill>
          </p:spPr>
        </p:sp>
      </p:grpSp>
      <p:sp>
        <p:nvSpPr>
          <p:cNvPr name="TextBox 48" id="48"/>
          <p:cNvSpPr txBox="true"/>
          <p:nvPr/>
        </p:nvSpPr>
        <p:spPr>
          <a:xfrm rot="0">
            <a:off x="11002108" y="6155322"/>
            <a:ext cx="6092723" cy="1075934"/>
          </a:xfrm>
          <a:prstGeom prst="rect">
            <a:avLst/>
          </a:prstGeom>
        </p:spPr>
        <p:txBody>
          <a:bodyPr anchor="t" rtlCol="false" tIns="0" lIns="0" bIns="0" rIns="0">
            <a:spAutoFit/>
          </a:bodyPr>
          <a:lstStyle/>
          <a:p>
            <a:pPr algn="l">
              <a:lnSpc>
                <a:spcPts val="2630"/>
              </a:lnSpc>
            </a:pPr>
            <a:r>
              <a:rPr lang="en-US" sz="1726">
                <a:solidFill>
                  <a:srgbClr val="000000"/>
                </a:solidFill>
                <a:latin typeface="Inter"/>
                <a:ea typeface="Inter"/>
                <a:cs typeface="Inter"/>
                <a:sym typeface="Inter"/>
              </a:rPr>
              <a:t>Lab limitation: AUTH frames on port 2121 carry credentials in plaintext. Do not linger on these frames during the live demonstration.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descr="preencoded.png"/>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lnTo>
                    <a:pt x="0" y="0"/>
                  </a:lnTo>
                  <a:close/>
                </a:path>
              </a:pathLst>
            </a:custGeom>
            <a:blipFill>
              <a:blip r:embed="rId3"/>
              <a:stretch>
                <a:fillRect l="-1" t="0" r="-1" b="0"/>
              </a:stretch>
            </a:blip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alpha val="90196"/>
              </a:srgbClr>
            </a:solidFill>
          </p:spPr>
        </p:sp>
      </p:grpSp>
      <p:sp>
        <p:nvSpPr>
          <p:cNvPr name="Freeform 6" id="6"/>
          <p:cNvSpPr/>
          <p:nvPr/>
        </p:nvSpPr>
        <p:spPr>
          <a:xfrm flipH="false" flipV="false" rot="0">
            <a:off x="6811516" y="3200164"/>
            <a:ext cx="11476484" cy="7086836"/>
          </a:xfrm>
          <a:custGeom>
            <a:avLst/>
            <a:gdLst/>
            <a:ahLst/>
            <a:cxnLst/>
            <a:rect r="r" b="b" t="t" l="l"/>
            <a:pathLst>
              <a:path h="7086836" w="11476484">
                <a:moveTo>
                  <a:pt x="0" y="0"/>
                </a:moveTo>
                <a:lnTo>
                  <a:pt x="11476484" y="0"/>
                </a:lnTo>
                <a:lnTo>
                  <a:pt x="11476484" y="7086836"/>
                </a:lnTo>
                <a:lnTo>
                  <a:pt x="0" y="7086836"/>
                </a:lnTo>
                <a:lnTo>
                  <a:pt x="0" y="0"/>
                </a:lnTo>
                <a:close/>
              </a:path>
            </a:pathLst>
          </a:custGeom>
          <a:blipFill>
            <a:blip r:embed="rId4"/>
            <a:stretch>
              <a:fillRect l="0" t="-1213" r="0" b="0"/>
            </a:stretch>
          </a:blipFill>
          <a:ln w="38100" cap="sq">
            <a:solidFill>
              <a:srgbClr val="000000"/>
            </a:solidFill>
            <a:prstDash val="solid"/>
            <a:miter/>
          </a:ln>
        </p:spPr>
      </p:sp>
      <p:sp>
        <p:nvSpPr>
          <p:cNvPr name="TextBox 7" id="7"/>
          <p:cNvSpPr txBox="true"/>
          <p:nvPr/>
        </p:nvSpPr>
        <p:spPr>
          <a:xfrm rot="0">
            <a:off x="1028700" y="990600"/>
            <a:ext cx="9452677" cy="852830"/>
          </a:xfrm>
          <a:prstGeom prst="rect">
            <a:avLst/>
          </a:prstGeom>
        </p:spPr>
        <p:txBody>
          <a:bodyPr anchor="t" rtlCol="false" tIns="0" lIns="0" bIns="0" rIns="0">
            <a:spAutoFit/>
          </a:bodyPr>
          <a:lstStyle/>
          <a:p>
            <a:pPr algn="l">
              <a:lnSpc>
                <a:spcPts val="6369"/>
              </a:lnSpc>
            </a:pPr>
            <a:r>
              <a:rPr lang="en-US" sz="5103" b="true">
                <a:solidFill>
                  <a:srgbClr val="000000"/>
                </a:solidFill>
                <a:latin typeface="Petrona Bold"/>
                <a:ea typeface="Petrona Bold"/>
                <a:cs typeface="Petrona Bold"/>
                <a:sym typeface="Petrona Bold"/>
              </a:rPr>
              <a:t>Sign-In &amp; Empty Sandbox</a:t>
            </a:r>
          </a:p>
        </p:txBody>
      </p:sp>
      <p:sp>
        <p:nvSpPr>
          <p:cNvPr name="TextBox 8" id="8"/>
          <p:cNvSpPr txBox="true"/>
          <p:nvPr/>
        </p:nvSpPr>
        <p:spPr>
          <a:xfrm rot="0">
            <a:off x="1028700" y="2187199"/>
            <a:ext cx="5387881" cy="1940204"/>
          </a:xfrm>
          <a:prstGeom prst="rect">
            <a:avLst/>
          </a:prstGeom>
        </p:spPr>
        <p:txBody>
          <a:bodyPr anchor="t" rtlCol="false" tIns="0" lIns="0" bIns="0" rIns="0">
            <a:spAutoFit/>
          </a:bodyPr>
          <a:lstStyle/>
          <a:p>
            <a:pPr algn="l">
              <a:lnSpc>
                <a:spcPts val="3114"/>
              </a:lnSpc>
            </a:pPr>
            <a:r>
              <a:rPr lang="en-US" sz="1951" b="true">
                <a:solidFill>
                  <a:srgbClr val="272525"/>
                </a:solidFill>
                <a:latin typeface="Inter Bold"/>
                <a:ea typeface="Inter Bold"/>
                <a:cs typeface="Inter Bold"/>
                <a:sym typeface="Inter Bold"/>
              </a:rPr>
              <a:t>Entry Point:</a:t>
            </a:r>
            <a:r>
              <a:rPr lang="en-US" sz="1951">
                <a:solidFill>
                  <a:srgbClr val="272525"/>
                </a:solidFill>
                <a:latin typeface="Inter"/>
                <a:ea typeface="Inter"/>
                <a:cs typeface="Inter"/>
                <a:sym typeface="Inter"/>
              </a:rPr>
              <a:t> The HTTP login form at port 3000 submits credentials to FastAPI, which validates against the bcrypt hash and returns the JWT token used throughout the remainder of the session.</a:t>
            </a:r>
          </a:p>
        </p:txBody>
      </p:sp>
      <p:sp>
        <p:nvSpPr>
          <p:cNvPr name="TextBox 9" id="9"/>
          <p:cNvSpPr txBox="true"/>
          <p:nvPr/>
        </p:nvSpPr>
        <p:spPr>
          <a:xfrm rot="0">
            <a:off x="6811516" y="2244349"/>
            <a:ext cx="4118210" cy="435940"/>
          </a:xfrm>
          <a:prstGeom prst="rect">
            <a:avLst/>
          </a:prstGeom>
        </p:spPr>
        <p:txBody>
          <a:bodyPr anchor="t" rtlCol="false" tIns="0" lIns="0" bIns="0" rIns="0">
            <a:spAutoFit/>
          </a:bodyPr>
          <a:lstStyle/>
          <a:p>
            <a:pPr algn="l">
              <a:lnSpc>
                <a:spcPts val="3184"/>
              </a:lnSpc>
            </a:pPr>
            <a:r>
              <a:rPr lang="en-US" sz="2551" b="true">
                <a:solidFill>
                  <a:srgbClr val="272525"/>
                </a:solidFill>
                <a:latin typeface="Petrona Bold"/>
                <a:ea typeface="Petrona Bold"/>
                <a:cs typeface="Petrona Bold"/>
                <a:sym typeface="Petrona Bold"/>
              </a:rPr>
              <a:t>Left Panel — Sign-In Form</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descr="preencoded.png"/>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lnTo>
                    <a:pt x="0" y="0"/>
                  </a:lnTo>
                  <a:close/>
                </a:path>
              </a:pathLst>
            </a:custGeom>
            <a:blipFill>
              <a:blip r:embed="rId3"/>
              <a:stretch>
                <a:fillRect l="-1" t="0" r="-1" b="0"/>
              </a:stretch>
            </a:blip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alpha val="90196"/>
              </a:srgbClr>
            </a:solidFill>
          </p:spPr>
        </p:sp>
      </p:grpSp>
      <p:sp>
        <p:nvSpPr>
          <p:cNvPr name="Freeform 6" id="6"/>
          <p:cNvSpPr/>
          <p:nvPr/>
        </p:nvSpPr>
        <p:spPr>
          <a:xfrm flipH="false" flipV="false" rot="0">
            <a:off x="4837304" y="1880315"/>
            <a:ext cx="13450696" cy="8406685"/>
          </a:xfrm>
          <a:custGeom>
            <a:avLst/>
            <a:gdLst/>
            <a:ahLst/>
            <a:cxnLst/>
            <a:rect r="r" b="b" t="t" l="l"/>
            <a:pathLst>
              <a:path h="8406685" w="13450696">
                <a:moveTo>
                  <a:pt x="0" y="0"/>
                </a:moveTo>
                <a:lnTo>
                  <a:pt x="13450696" y="0"/>
                </a:lnTo>
                <a:lnTo>
                  <a:pt x="13450696" y="8406685"/>
                </a:lnTo>
                <a:lnTo>
                  <a:pt x="0" y="8406685"/>
                </a:lnTo>
                <a:lnTo>
                  <a:pt x="0" y="0"/>
                </a:lnTo>
                <a:close/>
              </a:path>
            </a:pathLst>
          </a:custGeom>
          <a:blipFill>
            <a:blip r:embed="rId4"/>
            <a:stretch>
              <a:fillRect l="0" t="0" r="0" b="0"/>
            </a:stretch>
          </a:blipFill>
          <a:ln w="38100" cap="sq">
            <a:solidFill>
              <a:srgbClr val="000000"/>
            </a:solidFill>
            <a:prstDash val="solid"/>
            <a:miter/>
          </a:ln>
        </p:spPr>
      </p:sp>
      <p:sp>
        <p:nvSpPr>
          <p:cNvPr name="TextBox 7" id="7"/>
          <p:cNvSpPr txBox="true"/>
          <p:nvPr/>
        </p:nvSpPr>
        <p:spPr>
          <a:xfrm rot="0">
            <a:off x="1028700" y="990600"/>
            <a:ext cx="9452677" cy="852830"/>
          </a:xfrm>
          <a:prstGeom prst="rect">
            <a:avLst/>
          </a:prstGeom>
        </p:spPr>
        <p:txBody>
          <a:bodyPr anchor="t" rtlCol="false" tIns="0" lIns="0" bIns="0" rIns="0">
            <a:spAutoFit/>
          </a:bodyPr>
          <a:lstStyle/>
          <a:p>
            <a:pPr algn="l">
              <a:lnSpc>
                <a:spcPts val="6369"/>
              </a:lnSpc>
            </a:pPr>
            <a:r>
              <a:rPr lang="en-US" sz="5103" b="true">
                <a:solidFill>
                  <a:srgbClr val="000000"/>
                </a:solidFill>
                <a:latin typeface="Petrona Bold"/>
                <a:ea typeface="Petrona Bold"/>
                <a:cs typeface="Petrona Bold"/>
                <a:sym typeface="Petrona Bold"/>
              </a:rPr>
              <a:t>Sign-In &amp; Empty Sandbox</a:t>
            </a:r>
          </a:p>
        </p:txBody>
      </p:sp>
      <p:sp>
        <p:nvSpPr>
          <p:cNvPr name="TextBox 8" id="8"/>
          <p:cNvSpPr txBox="true"/>
          <p:nvPr/>
        </p:nvSpPr>
        <p:spPr>
          <a:xfrm rot="0">
            <a:off x="1028700" y="2211454"/>
            <a:ext cx="4118210" cy="843305"/>
          </a:xfrm>
          <a:prstGeom prst="rect">
            <a:avLst/>
          </a:prstGeom>
        </p:spPr>
        <p:txBody>
          <a:bodyPr anchor="t" rtlCol="false" tIns="0" lIns="0" bIns="0" rIns="0">
            <a:spAutoFit/>
          </a:bodyPr>
          <a:lstStyle/>
          <a:p>
            <a:pPr algn="l">
              <a:lnSpc>
                <a:spcPts val="3184"/>
              </a:lnSpc>
            </a:pPr>
            <a:r>
              <a:rPr lang="en-US" sz="2551" b="true">
                <a:solidFill>
                  <a:srgbClr val="272525"/>
                </a:solidFill>
                <a:latin typeface="Petrona Bold"/>
                <a:ea typeface="Petrona Bold"/>
                <a:cs typeface="Petrona Bold"/>
                <a:sym typeface="Petrona Bold"/>
              </a:rPr>
              <a:t>Right Panel — Empty Sandbox + Live Indicator</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descr="preencoded.png"/>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lnTo>
                    <a:pt x="0" y="0"/>
                  </a:lnTo>
                  <a:close/>
                </a:path>
              </a:pathLst>
            </a:custGeom>
            <a:blipFill>
              <a:blip r:embed="rId3"/>
              <a:stretch>
                <a:fillRect l="-1" t="0" r="-1" b="0"/>
              </a:stretch>
            </a:blip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alpha val="90196"/>
              </a:srgbClr>
            </a:solidFill>
          </p:spPr>
        </p:sp>
      </p:grpSp>
      <p:sp>
        <p:nvSpPr>
          <p:cNvPr name="TextBox 6" id="6"/>
          <p:cNvSpPr txBox="true"/>
          <p:nvPr/>
        </p:nvSpPr>
        <p:spPr>
          <a:xfrm rot="0">
            <a:off x="992991" y="2257730"/>
            <a:ext cx="16315868" cy="852830"/>
          </a:xfrm>
          <a:prstGeom prst="rect">
            <a:avLst/>
          </a:prstGeom>
        </p:spPr>
        <p:txBody>
          <a:bodyPr anchor="t" rtlCol="false" tIns="0" lIns="0" bIns="0" rIns="0">
            <a:spAutoFit/>
          </a:bodyPr>
          <a:lstStyle/>
          <a:p>
            <a:pPr algn="l">
              <a:lnSpc>
                <a:spcPts val="6369"/>
              </a:lnSpc>
            </a:pPr>
            <a:r>
              <a:rPr lang="en-US" sz="5103" b="true">
                <a:solidFill>
                  <a:srgbClr val="000000"/>
                </a:solidFill>
                <a:latin typeface="Petrona Bold"/>
                <a:ea typeface="Petrona Bold"/>
                <a:cs typeface="Petrona Bold"/>
                <a:sym typeface="Petrona Bold"/>
              </a:rPr>
              <a:t>Upload &amp; Download: Transfer Tracking</a:t>
            </a:r>
          </a:p>
        </p:txBody>
      </p:sp>
      <p:sp>
        <p:nvSpPr>
          <p:cNvPr name="TextBox 7" id="7"/>
          <p:cNvSpPr txBox="true"/>
          <p:nvPr/>
        </p:nvSpPr>
        <p:spPr>
          <a:xfrm rot="0">
            <a:off x="992991" y="3521259"/>
            <a:ext cx="16315868" cy="880196"/>
          </a:xfrm>
          <a:prstGeom prst="rect">
            <a:avLst/>
          </a:prstGeom>
        </p:spPr>
        <p:txBody>
          <a:bodyPr anchor="t" rtlCol="false" tIns="0" lIns="0" bIns="0" rIns="0">
            <a:spAutoFit/>
          </a:bodyPr>
          <a:lstStyle/>
          <a:p>
            <a:pPr algn="l">
              <a:lnSpc>
                <a:spcPts val="3114"/>
              </a:lnSpc>
            </a:pPr>
            <a:r>
              <a:rPr lang="en-US" sz="1951" b="true">
                <a:solidFill>
                  <a:srgbClr val="272525"/>
                </a:solidFill>
                <a:latin typeface="Inter Bold"/>
                <a:ea typeface="Inter Bold"/>
                <a:cs typeface="Inter Bold"/>
                <a:sym typeface="Inter Bold"/>
              </a:rPr>
              <a:t>Two-Hop Measurement:</a:t>
            </a:r>
            <a:r>
              <a:rPr lang="en-US" sz="1951">
                <a:solidFill>
                  <a:srgbClr val="272525"/>
                </a:solidFill>
                <a:latin typeface="Inter"/>
                <a:ea typeface="Inter"/>
                <a:cs typeface="Inter"/>
                <a:sym typeface="Inter"/>
              </a:rPr>
              <a:t> The browser measures the HTTP portion (Browser → FastAPI on port 8000); FastAPI captures TCP transfer metrics (FastAPI → TCP Server on port 2121) and streams them back via WebSocket.</a:t>
            </a:r>
          </a:p>
        </p:txBody>
      </p:sp>
      <p:grpSp>
        <p:nvGrpSpPr>
          <p:cNvPr name="Group 8" id="8"/>
          <p:cNvGrpSpPr/>
          <p:nvPr/>
        </p:nvGrpSpPr>
        <p:grpSpPr>
          <a:xfrm rot="0">
            <a:off x="988219" y="4955238"/>
            <a:ext cx="7864669" cy="2769327"/>
            <a:chOff x="0" y="0"/>
            <a:chExt cx="10486225" cy="3692436"/>
          </a:xfrm>
        </p:grpSpPr>
        <p:sp>
          <p:nvSpPr>
            <p:cNvPr name="Freeform 9" id="9"/>
            <p:cNvSpPr/>
            <p:nvPr/>
          </p:nvSpPr>
          <p:spPr>
            <a:xfrm flipH="false" flipV="false" rot="0">
              <a:off x="0" y="0"/>
              <a:ext cx="10486136" cy="3692398"/>
            </a:xfrm>
            <a:custGeom>
              <a:avLst/>
              <a:gdLst/>
              <a:ahLst/>
              <a:cxnLst/>
              <a:rect r="r" b="b" t="t" l="l"/>
              <a:pathLst>
                <a:path h="3692398" w="10486136">
                  <a:moveTo>
                    <a:pt x="0" y="139446"/>
                  </a:moveTo>
                  <a:cubicBezTo>
                    <a:pt x="0" y="62484"/>
                    <a:pt x="62484" y="0"/>
                    <a:pt x="139446" y="0"/>
                  </a:cubicBezTo>
                  <a:lnTo>
                    <a:pt x="10346690" y="0"/>
                  </a:lnTo>
                  <a:cubicBezTo>
                    <a:pt x="10423779" y="0"/>
                    <a:pt x="10486136" y="62484"/>
                    <a:pt x="10486136" y="139446"/>
                  </a:cubicBezTo>
                  <a:lnTo>
                    <a:pt x="10486136" y="3552952"/>
                  </a:lnTo>
                  <a:cubicBezTo>
                    <a:pt x="10486136" y="3630041"/>
                    <a:pt x="10423652" y="3692398"/>
                    <a:pt x="10346690" y="3692398"/>
                  </a:cubicBezTo>
                  <a:lnTo>
                    <a:pt x="139446" y="3692398"/>
                  </a:lnTo>
                  <a:cubicBezTo>
                    <a:pt x="62484" y="3692398"/>
                    <a:pt x="0" y="3629914"/>
                    <a:pt x="0" y="3552952"/>
                  </a:cubicBezTo>
                  <a:close/>
                </a:path>
              </a:pathLst>
            </a:custGeom>
            <a:solidFill>
              <a:srgbClr val="CCEEFF"/>
            </a:solidFill>
            <a:ln w="9532" cap="sq">
              <a:solidFill>
                <a:srgbClr val="B2D4E5"/>
              </a:solidFill>
              <a:prstDash val="solid"/>
              <a:miter/>
            </a:ln>
          </p:spPr>
        </p:sp>
      </p:grpSp>
      <p:sp>
        <p:nvSpPr>
          <p:cNvPr name="TextBox 10" id="10"/>
          <p:cNvSpPr txBox="true"/>
          <p:nvPr/>
        </p:nvSpPr>
        <p:spPr>
          <a:xfrm rot="0">
            <a:off x="1250652" y="5189096"/>
            <a:ext cx="7339803" cy="435940"/>
          </a:xfrm>
          <a:prstGeom prst="rect">
            <a:avLst/>
          </a:prstGeom>
        </p:spPr>
        <p:txBody>
          <a:bodyPr anchor="t" rtlCol="false" tIns="0" lIns="0" bIns="0" rIns="0">
            <a:spAutoFit/>
          </a:bodyPr>
          <a:lstStyle/>
          <a:p>
            <a:pPr algn="l">
              <a:lnSpc>
                <a:spcPts val="3184"/>
              </a:lnSpc>
            </a:pPr>
            <a:r>
              <a:rPr lang="en-US" sz="2551" b="true">
                <a:solidFill>
                  <a:srgbClr val="272525"/>
                </a:solidFill>
                <a:latin typeface="Petrona Bold"/>
                <a:ea typeface="Petrona Bold"/>
                <a:cs typeface="Petrona Bold"/>
                <a:sym typeface="Petrona Bold"/>
              </a:rPr>
              <a:t>Transfer Card (Live)</a:t>
            </a:r>
          </a:p>
        </p:txBody>
      </p:sp>
      <p:sp>
        <p:nvSpPr>
          <p:cNvPr name="TextBox 11" id="11"/>
          <p:cNvSpPr txBox="true"/>
          <p:nvPr/>
        </p:nvSpPr>
        <p:spPr>
          <a:xfrm rot="0">
            <a:off x="1250652" y="5787457"/>
            <a:ext cx="7339803" cy="1674666"/>
          </a:xfrm>
          <a:prstGeom prst="rect">
            <a:avLst/>
          </a:prstGeom>
        </p:spPr>
        <p:txBody>
          <a:bodyPr anchor="t" rtlCol="false" tIns="0" lIns="0" bIns="0" rIns="0">
            <a:spAutoFit/>
          </a:bodyPr>
          <a:lstStyle/>
          <a:p>
            <a:pPr algn="l">
              <a:lnSpc>
                <a:spcPts val="3114"/>
              </a:lnSpc>
            </a:pPr>
            <a:r>
              <a:rPr lang="en-US" sz="1951">
                <a:solidFill>
                  <a:srgbClr val="272525"/>
                </a:solidFill>
                <a:latin typeface="Inter"/>
                <a:ea typeface="Inter"/>
                <a:cs typeface="Inter"/>
                <a:sym typeface="Inter"/>
              </a:rPr>
              <a:t>Displays </a:t>
            </a:r>
            <a:r>
              <a:rPr lang="en-US" sz="1951" b="true">
                <a:solidFill>
                  <a:srgbClr val="272525"/>
                </a:solidFill>
                <a:latin typeface="Inter Bold"/>
                <a:ea typeface="Inter Bold"/>
                <a:cs typeface="Inter Bold"/>
                <a:sym typeface="Inter Bold"/>
              </a:rPr>
              <a:t>bytes transferred, speed (B/s), ETA, and state</a:t>
            </a:r>
            <a:r>
              <a:rPr lang="en-US" sz="1951">
                <a:solidFill>
                  <a:srgbClr val="272525"/>
                </a:solidFill>
                <a:latin typeface="Inter"/>
                <a:ea typeface="Inter"/>
                <a:cs typeface="Inter"/>
                <a:sym typeface="Inter"/>
              </a:rPr>
              <a:t> sourced from TCP session progress. WebSocket text frames carry transferred_bytes JSON as the TCP server streams each 64 KiB chunk.</a:t>
            </a:r>
          </a:p>
        </p:txBody>
      </p:sp>
      <p:grpSp>
        <p:nvGrpSpPr>
          <p:cNvPr name="Group 12" id="12"/>
          <p:cNvGrpSpPr/>
          <p:nvPr/>
        </p:nvGrpSpPr>
        <p:grpSpPr>
          <a:xfrm rot="0">
            <a:off x="9458487" y="4955238"/>
            <a:ext cx="7864669" cy="2769327"/>
            <a:chOff x="0" y="0"/>
            <a:chExt cx="10486225" cy="3692436"/>
          </a:xfrm>
        </p:grpSpPr>
        <p:sp>
          <p:nvSpPr>
            <p:cNvPr name="Freeform 13" id="13"/>
            <p:cNvSpPr/>
            <p:nvPr/>
          </p:nvSpPr>
          <p:spPr>
            <a:xfrm flipH="false" flipV="false" rot="0">
              <a:off x="0" y="0"/>
              <a:ext cx="10486136" cy="3692398"/>
            </a:xfrm>
            <a:custGeom>
              <a:avLst/>
              <a:gdLst/>
              <a:ahLst/>
              <a:cxnLst/>
              <a:rect r="r" b="b" t="t" l="l"/>
              <a:pathLst>
                <a:path h="3692398" w="10486136">
                  <a:moveTo>
                    <a:pt x="0" y="139446"/>
                  </a:moveTo>
                  <a:cubicBezTo>
                    <a:pt x="0" y="62484"/>
                    <a:pt x="62484" y="0"/>
                    <a:pt x="139446" y="0"/>
                  </a:cubicBezTo>
                  <a:lnTo>
                    <a:pt x="10346690" y="0"/>
                  </a:lnTo>
                  <a:cubicBezTo>
                    <a:pt x="10423779" y="0"/>
                    <a:pt x="10486136" y="62484"/>
                    <a:pt x="10486136" y="139446"/>
                  </a:cubicBezTo>
                  <a:lnTo>
                    <a:pt x="10486136" y="3552952"/>
                  </a:lnTo>
                  <a:cubicBezTo>
                    <a:pt x="10486136" y="3630041"/>
                    <a:pt x="10423652" y="3692398"/>
                    <a:pt x="10346690" y="3692398"/>
                  </a:cubicBezTo>
                  <a:lnTo>
                    <a:pt x="139446" y="3692398"/>
                  </a:lnTo>
                  <a:cubicBezTo>
                    <a:pt x="62484" y="3692398"/>
                    <a:pt x="0" y="3629914"/>
                    <a:pt x="0" y="3552952"/>
                  </a:cubicBezTo>
                  <a:close/>
                </a:path>
              </a:pathLst>
            </a:custGeom>
            <a:solidFill>
              <a:srgbClr val="CCEEFF"/>
            </a:solidFill>
            <a:ln w="9532" cap="sq">
              <a:solidFill>
                <a:srgbClr val="B2D4E5"/>
              </a:solidFill>
              <a:prstDash val="solid"/>
              <a:miter/>
            </a:ln>
          </p:spPr>
        </p:sp>
      </p:grpSp>
      <p:sp>
        <p:nvSpPr>
          <p:cNvPr name="TextBox 14" id="14"/>
          <p:cNvSpPr txBox="true"/>
          <p:nvPr/>
        </p:nvSpPr>
        <p:spPr>
          <a:xfrm rot="0">
            <a:off x="9720920" y="5189096"/>
            <a:ext cx="7339803" cy="435940"/>
          </a:xfrm>
          <a:prstGeom prst="rect">
            <a:avLst/>
          </a:prstGeom>
        </p:spPr>
        <p:txBody>
          <a:bodyPr anchor="t" rtlCol="false" tIns="0" lIns="0" bIns="0" rIns="0">
            <a:spAutoFit/>
          </a:bodyPr>
          <a:lstStyle/>
          <a:p>
            <a:pPr algn="l">
              <a:lnSpc>
                <a:spcPts val="3184"/>
              </a:lnSpc>
            </a:pPr>
            <a:r>
              <a:rPr lang="en-US" sz="2551" b="true">
                <a:solidFill>
                  <a:srgbClr val="272525"/>
                </a:solidFill>
                <a:latin typeface="Petrona Bold"/>
                <a:ea typeface="Petrona Bold"/>
                <a:cs typeface="Petrona Bold"/>
                <a:sym typeface="Petrona Bold"/>
              </a:rPr>
              <a:t>History Table (Persistent)</a:t>
            </a:r>
          </a:p>
        </p:txBody>
      </p:sp>
      <p:sp>
        <p:nvSpPr>
          <p:cNvPr name="TextBox 15" id="15"/>
          <p:cNvSpPr txBox="true"/>
          <p:nvPr/>
        </p:nvSpPr>
        <p:spPr>
          <a:xfrm rot="0">
            <a:off x="9720920" y="5787457"/>
            <a:ext cx="7339803" cy="1674666"/>
          </a:xfrm>
          <a:prstGeom prst="rect">
            <a:avLst/>
          </a:prstGeom>
        </p:spPr>
        <p:txBody>
          <a:bodyPr anchor="t" rtlCol="false" tIns="0" lIns="0" bIns="0" rIns="0">
            <a:spAutoFit/>
          </a:bodyPr>
          <a:lstStyle/>
          <a:p>
            <a:pPr algn="l">
              <a:lnSpc>
                <a:spcPts val="3114"/>
              </a:lnSpc>
            </a:pPr>
            <a:r>
              <a:rPr lang="en-US" sz="1951">
                <a:solidFill>
                  <a:srgbClr val="272525"/>
                </a:solidFill>
                <a:latin typeface="Inter"/>
                <a:ea typeface="Inter"/>
                <a:cs typeface="Inter"/>
                <a:sym typeface="Inter"/>
              </a:rPr>
              <a:t>SQLite records each completed transfer — filename, size, direction, timestamp, speed. Rows persist after the TCP session closes, providing an audit trail independent of the live WebSocket connection.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lnTo>
                    <a:pt x="0" y="0"/>
                  </a:lnTo>
                  <a:close/>
                </a:path>
              </a:pathLst>
            </a:custGeom>
            <a:blipFill>
              <a:blip r:embed="rId3"/>
              <a:stretch>
                <a:fillRect l="0" t="-5554" r="0" b="-5554"/>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descr="preencoded.png"/>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lnTo>
                    <a:pt x="0" y="0"/>
                  </a:lnTo>
                  <a:close/>
                </a:path>
              </a:pathLst>
            </a:custGeom>
            <a:blipFill>
              <a:blip r:embed="rId3"/>
              <a:stretch>
                <a:fillRect l="-1" t="0" r="-1" b="0"/>
              </a:stretch>
            </a:blip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blipFill>
              <a:blip r:embed="rId4">
                <a:alphaModFix amt="95000"/>
              </a:blip>
              <a:stretch>
                <a:fillRect l="0" t="-5554" r="0" b="-5554"/>
              </a:stretch>
            </a:blip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descr="preencoded.png"/>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lnTo>
                    <a:pt x="0" y="0"/>
                  </a:lnTo>
                  <a:close/>
                </a:path>
              </a:pathLst>
            </a:custGeom>
            <a:blipFill>
              <a:blip r:embed="rId3"/>
              <a:stretch>
                <a:fillRect l="-1" t="0" r="-1" b="0"/>
              </a:stretch>
            </a:blip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blipFill>
              <a:blip r:embed="rId4">
                <a:alphaModFix amt="95000"/>
              </a:blip>
              <a:stretch>
                <a:fillRect l="0" t="-5554" r="0" b="-5554"/>
              </a:stretch>
            </a:blip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CCEEFF"/>
        </a:solidFill>
      </p:bgPr>
    </p:bg>
    <p:spTree>
      <p:nvGrpSpPr>
        <p:cNvPr id="1" name=""/>
        <p:cNvGrpSpPr/>
        <p:nvPr/>
      </p:nvGrpSpPr>
      <p:grpSpPr>
        <a:xfrm>
          <a:off x="0" y="0"/>
          <a:ext cx="0" cy="0"/>
          <a:chOff x="0" y="0"/>
          <a:chExt cx="0" cy="0"/>
        </a:xfrm>
      </p:grpSpPr>
      <p:sp>
        <p:nvSpPr>
          <p:cNvPr name="Freeform 2" id="2"/>
          <p:cNvSpPr/>
          <p:nvPr/>
        </p:nvSpPr>
        <p:spPr>
          <a:xfrm flipH="false" flipV="false" rot="0">
            <a:off x="827825" y="1782607"/>
            <a:ext cx="16632350" cy="8035504"/>
          </a:xfrm>
          <a:custGeom>
            <a:avLst/>
            <a:gdLst/>
            <a:ahLst/>
            <a:cxnLst/>
            <a:rect r="r" b="b" t="t" l="l"/>
            <a:pathLst>
              <a:path h="8035504" w="16632350">
                <a:moveTo>
                  <a:pt x="0" y="0"/>
                </a:moveTo>
                <a:lnTo>
                  <a:pt x="16632350" y="0"/>
                </a:lnTo>
                <a:lnTo>
                  <a:pt x="16632350" y="8035504"/>
                </a:lnTo>
                <a:lnTo>
                  <a:pt x="0" y="8035504"/>
                </a:lnTo>
                <a:lnTo>
                  <a:pt x="0" y="0"/>
                </a:lnTo>
                <a:close/>
              </a:path>
            </a:pathLst>
          </a:custGeom>
          <a:blipFill>
            <a:blip r:embed="rId3"/>
            <a:stretch>
              <a:fillRect l="0" t="0" r="0" b="0"/>
            </a:stretch>
          </a:blipFill>
        </p:spPr>
      </p:sp>
      <p:sp>
        <p:nvSpPr>
          <p:cNvPr name="TextBox 3" id="3"/>
          <p:cNvSpPr txBox="true"/>
          <p:nvPr/>
        </p:nvSpPr>
        <p:spPr>
          <a:xfrm rot="0">
            <a:off x="1028700" y="683867"/>
            <a:ext cx="4922361" cy="651567"/>
          </a:xfrm>
          <a:prstGeom prst="rect">
            <a:avLst/>
          </a:prstGeom>
        </p:spPr>
        <p:txBody>
          <a:bodyPr anchor="t" rtlCol="false" tIns="0" lIns="0" bIns="0" rIns="0">
            <a:spAutoFit/>
          </a:bodyPr>
          <a:lstStyle/>
          <a:p>
            <a:pPr algn="l">
              <a:lnSpc>
                <a:spcPts val="5058"/>
              </a:lnSpc>
            </a:pPr>
            <a:r>
              <a:rPr lang="en-US" sz="4053" b="true">
                <a:solidFill>
                  <a:srgbClr val="000000"/>
                </a:solidFill>
                <a:latin typeface="Petrona Bold"/>
                <a:ea typeface="Petrona Bold"/>
                <a:cs typeface="Petrona Bold"/>
                <a:sym typeface="Petrona Bold"/>
              </a:rPr>
              <a:t>Live Demonstration: </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descr="preencoded.png"/>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lnTo>
                    <a:pt x="0" y="0"/>
                  </a:lnTo>
                  <a:close/>
                </a:path>
              </a:pathLst>
            </a:custGeom>
            <a:blipFill>
              <a:blip r:embed="rId3"/>
              <a:stretch>
                <a:fillRect l="-1" t="0" r="-1" b="0"/>
              </a:stretch>
            </a:blip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alpha val="90196"/>
              </a:srgbClr>
            </a:solidFill>
          </p:spPr>
        </p:sp>
      </p:grpSp>
      <p:sp>
        <p:nvSpPr>
          <p:cNvPr name="TextBox 6" id="6"/>
          <p:cNvSpPr txBox="true"/>
          <p:nvPr/>
        </p:nvSpPr>
        <p:spPr>
          <a:xfrm rot="0">
            <a:off x="992991" y="1706489"/>
            <a:ext cx="16315868" cy="852830"/>
          </a:xfrm>
          <a:prstGeom prst="rect">
            <a:avLst/>
          </a:prstGeom>
        </p:spPr>
        <p:txBody>
          <a:bodyPr anchor="t" rtlCol="false" tIns="0" lIns="0" bIns="0" rIns="0">
            <a:spAutoFit/>
          </a:bodyPr>
          <a:lstStyle/>
          <a:p>
            <a:pPr algn="l">
              <a:lnSpc>
                <a:spcPts val="6369"/>
              </a:lnSpc>
            </a:pPr>
            <a:r>
              <a:rPr lang="en-US" sz="5103" b="true">
                <a:solidFill>
                  <a:srgbClr val="000000"/>
                </a:solidFill>
                <a:latin typeface="Petrona Bold"/>
                <a:ea typeface="Petrona Bold"/>
                <a:cs typeface="Petrona Bold"/>
                <a:sym typeface="Petrona Bold"/>
              </a:rPr>
              <a:t>What the Demonstration Proved</a:t>
            </a:r>
          </a:p>
        </p:txBody>
      </p:sp>
      <p:grpSp>
        <p:nvGrpSpPr>
          <p:cNvPr name="Group 7" id="7"/>
          <p:cNvGrpSpPr/>
          <p:nvPr/>
        </p:nvGrpSpPr>
        <p:grpSpPr>
          <a:xfrm rot="0">
            <a:off x="988219" y="3050981"/>
            <a:ext cx="5282632" cy="4269200"/>
            <a:chOff x="0" y="0"/>
            <a:chExt cx="7043509" cy="5692267"/>
          </a:xfrm>
        </p:grpSpPr>
        <p:sp>
          <p:nvSpPr>
            <p:cNvPr name="Freeform 8" id="8"/>
            <p:cNvSpPr/>
            <p:nvPr/>
          </p:nvSpPr>
          <p:spPr>
            <a:xfrm flipH="false" flipV="false" rot="0">
              <a:off x="0" y="0"/>
              <a:ext cx="7043420" cy="5692267"/>
            </a:xfrm>
            <a:custGeom>
              <a:avLst/>
              <a:gdLst/>
              <a:ahLst/>
              <a:cxnLst/>
              <a:rect r="r" b="b" t="t" l="l"/>
              <a:pathLst>
                <a:path h="5692267" w="7043420">
                  <a:moveTo>
                    <a:pt x="0" y="139319"/>
                  </a:moveTo>
                  <a:cubicBezTo>
                    <a:pt x="0" y="62357"/>
                    <a:pt x="62357" y="0"/>
                    <a:pt x="139319" y="0"/>
                  </a:cubicBezTo>
                  <a:lnTo>
                    <a:pt x="6904101" y="0"/>
                  </a:lnTo>
                  <a:cubicBezTo>
                    <a:pt x="6981063" y="0"/>
                    <a:pt x="7043420" y="62357"/>
                    <a:pt x="7043420" y="139319"/>
                  </a:cubicBezTo>
                  <a:lnTo>
                    <a:pt x="7043420" y="5552948"/>
                  </a:lnTo>
                  <a:cubicBezTo>
                    <a:pt x="7043420" y="5629910"/>
                    <a:pt x="6981063" y="5692267"/>
                    <a:pt x="6904101" y="5692267"/>
                  </a:cubicBezTo>
                  <a:lnTo>
                    <a:pt x="139319" y="5692267"/>
                  </a:lnTo>
                  <a:cubicBezTo>
                    <a:pt x="62357" y="5692267"/>
                    <a:pt x="0" y="5629910"/>
                    <a:pt x="0" y="5552948"/>
                  </a:cubicBezTo>
                  <a:close/>
                </a:path>
              </a:pathLst>
            </a:custGeom>
            <a:solidFill>
              <a:srgbClr val="CCEEFF"/>
            </a:solidFill>
            <a:ln w="9532" cap="sq">
              <a:solidFill>
                <a:srgbClr val="B2D4E5"/>
              </a:solidFill>
              <a:prstDash val="solid"/>
              <a:miter/>
            </a:ln>
          </p:spPr>
        </p:sp>
      </p:grpSp>
      <p:sp>
        <p:nvSpPr>
          <p:cNvPr name="TextBox 9" id="9"/>
          <p:cNvSpPr txBox="true"/>
          <p:nvPr/>
        </p:nvSpPr>
        <p:spPr>
          <a:xfrm rot="0">
            <a:off x="1250652" y="3284839"/>
            <a:ext cx="4757766" cy="435940"/>
          </a:xfrm>
          <a:prstGeom prst="rect">
            <a:avLst/>
          </a:prstGeom>
        </p:spPr>
        <p:txBody>
          <a:bodyPr anchor="t" rtlCol="false" tIns="0" lIns="0" bIns="0" rIns="0">
            <a:spAutoFit/>
          </a:bodyPr>
          <a:lstStyle/>
          <a:p>
            <a:pPr algn="l">
              <a:lnSpc>
                <a:spcPts val="3184"/>
              </a:lnSpc>
            </a:pPr>
            <a:r>
              <a:rPr lang="en-US" sz="2551" b="true">
                <a:solidFill>
                  <a:srgbClr val="272525"/>
                </a:solidFill>
                <a:latin typeface="Petrona Bold"/>
                <a:ea typeface="Petrona Bold"/>
                <a:cs typeface="Petrona Bold"/>
                <a:sym typeface="Petrona Bold"/>
              </a:rPr>
              <a:t>TCP Protocol — Port 2121</a:t>
            </a:r>
          </a:p>
        </p:txBody>
      </p:sp>
      <p:sp>
        <p:nvSpPr>
          <p:cNvPr name="TextBox 10" id="10"/>
          <p:cNvSpPr txBox="true"/>
          <p:nvPr/>
        </p:nvSpPr>
        <p:spPr>
          <a:xfrm rot="0">
            <a:off x="1250652" y="3783997"/>
            <a:ext cx="4757766" cy="2866368"/>
          </a:xfrm>
          <a:prstGeom prst="rect">
            <a:avLst/>
          </a:prstGeom>
        </p:spPr>
        <p:txBody>
          <a:bodyPr anchor="t" rtlCol="false" tIns="0" lIns="0" bIns="0" rIns="0">
            <a:spAutoFit/>
          </a:bodyPr>
          <a:lstStyle/>
          <a:p>
            <a:pPr algn="l">
              <a:lnSpc>
                <a:spcPts val="3114"/>
              </a:lnSpc>
            </a:pPr>
            <a:r>
              <a:rPr lang="en-US" sz="1951">
                <a:solidFill>
                  <a:srgbClr val="272525"/>
                </a:solidFill>
                <a:latin typeface="Inter"/>
                <a:ea typeface="Inter"/>
                <a:cs typeface="Inter"/>
                <a:sym typeface="Inter"/>
              </a:rPr>
              <a:t>Port 2121 carried the complete designed session: three-way handshake, FTP-style reply codes (</a:t>
            </a:r>
            <a:r>
              <a:rPr lang="en-US" sz="1951" b="true">
                <a:solidFill>
                  <a:srgbClr val="272525"/>
                </a:solidFill>
                <a:latin typeface="Inter Bold"/>
                <a:ea typeface="Inter Bold"/>
                <a:cs typeface="Inter Bold"/>
                <a:sym typeface="Inter Bold"/>
              </a:rPr>
              <a:t>220 / 230 / 150 / 226 / 221</a:t>
            </a:r>
            <a:r>
              <a:rPr lang="en-US" sz="1951">
                <a:solidFill>
                  <a:srgbClr val="272525"/>
                </a:solidFill>
                <a:latin typeface="Inter"/>
                <a:ea typeface="Inter"/>
                <a:cs typeface="Inter"/>
                <a:sym typeface="Inter"/>
              </a:rPr>
              <a:t>), size-declared STOR with raw bytes, length-prefixed RETR with 8-byte &gt;Q header, and clean QUIT termination. Wireshark verified every frame.</a:t>
            </a:r>
          </a:p>
        </p:txBody>
      </p:sp>
      <p:grpSp>
        <p:nvGrpSpPr>
          <p:cNvPr name="Group 11" id="11"/>
          <p:cNvGrpSpPr/>
          <p:nvPr/>
        </p:nvGrpSpPr>
        <p:grpSpPr>
          <a:xfrm rot="0">
            <a:off x="6509452" y="3050981"/>
            <a:ext cx="5282784" cy="4269200"/>
            <a:chOff x="0" y="0"/>
            <a:chExt cx="7043712" cy="5692267"/>
          </a:xfrm>
        </p:grpSpPr>
        <p:sp>
          <p:nvSpPr>
            <p:cNvPr name="Freeform 12" id="12"/>
            <p:cNvSpPr/>
            <p:nvPr/>
          </p:nvSpPr>
          <p:spPr>
            <a:xfrm flipH="false" flipV="false" rot="0">
              <a:off x="0" y="0"/>
              <a:ext cx="7043674" cy="5692267"/>
            </a:xfrm>
            <a:custGeom>
              <a:avLst/>
              <a:gdLst/>
              <a:ahLst/>
              <a:cxnLst/>
              <a:rect r="r" b="b" t="t" l="l"/>
              <a:pathLst>
                <a:path h="5692267" w="7043674">
                  <a:moveTo>
                    <a:pt x="0" y="139319"/>
                  </a:moveTo>
                  <a:cubicBezTo>
                    <a:pt x="0" y="62357"/>
                    <a:pt x="62357" y="0"/>
                    <a:pt x="139319" y="0"/>
                  </a:cubicBezTo>
                  <a:lnTo>
                    <a:pt x="6904355" y="0"/>
                  </a:lnTo>
                  <a:cubicBezTo>
                    <a:pt x="6981317" y="0"/>
                    <a:pt x="7043674" y="62357"/>
                    <a:pt x="7043674" y="139319"/>
                  </a:cubicBezTo>
                  <a:lnTo>
                    <a:pt x="7043674" y="5552948"/>
                  </a:lnTo>
                  <a:cubicBezTo>
                    <a:pt x="7043674" y="5629910"/>
                    <a:pt x="6981317" y="5692267"/>
                    <a:pt x="6904355" y="5692267"/>
                  </a:cubicBezTo>
                  <a:lnTo>
                    <a:pt x="139319" y="5692267"/>
                  </a:lnTo>
                  <a:cubicBezTo>
                    <a:pt x="62357" y="5692267"/>
                    <a:pt x="0" y="5629910"/>
                    <a:pt x="0" y="5552948"/>
                  </a:cubicBezTo>
                  <a:close/>
                </a:path>
              </a:pathLst>
            </a:custGeom>
            <a:solidFill>
              <a:srgbClr val="CCEEFF"/>
            </a:solidFill>
            <a:ln w="9532" cap="sq">
              <a:solidFill>
                <a:srgbClr val="B2D4E5"/>
              </a:solidFill>
              <a:prstDash val="solid"/>
              <a:miter/>
            </a:ln>
          </p:spPr>
        </p:sp>
      </p:grpSp>
      <p:sp>
        <p:nvSpPr>
          <p:cNvPr name="TextBox 13" id="13"/>
          <p:cNvSpPr txBox="true"/>
          <p:nvPr/>
        </p:nvSpPr>
        <p:spPr>
          <a:xfrm rot="0">
            <a:off x="6771894" y="3284839"/>
            <a:ext cx="4757909" cy="843305"/>
          </a:xfrm>
          <a:prstGeom prst="rect">
            <a:avLst/>
          </a:prstGeom>
        </p:spPr>
        <p:txBody>
          <a:bodyPr anchor="t" rtlCol="false" tIns="0" lIns="0" bIns="0" rIns="0">
            <a:spAutoFit/>
          </a:bodyPr>
          <a:lstStyle/>
          <a:p>
            <a:pPr algn="l">
              <a:lnSpc>
                <a:spcPts val="3184"/>
              </a:lnSpc>
            </a:pPr>
            <a:r>
              <a:rPr lang="en-US" sz="2551" b="true">
                <a:solidFill>
                  <a:srgbClr val="272525"/>
                </a:solidFill>
                <a:latin typeface="Petrona Bold"/>
                <a:ea typeface="Petrona Bold"/>
                <a:cs typeface="Petrona Bold"/>
                <a:sym typeface="Petrona Bold"/>
              </a:rPr>
              <a:t>HTTP + WebSocket — Port 8000</a:t>
            </a:r>
          </a:p>
        </p:txBody>
      </p:sp>
      <p:sp>
        <p:nvSpPr>
          <p:cNvPr name="TextBox 14" id="14"/>
          <p:cNvSpPr txBox="true"/>
          <p:nvPr/>
        </p:nvSpPr>
        <p:spPr>
          <a:xfrm rot="0">
            <a:off x="6771894" y="4191362"/>
            <a:ext cx="4757909" cy="2866368"/>
          </a:xfrm>
          <a:prstGeom prst="rect">
            <a:avLst/>
          </a:prstGeom>
        </p:spPr>
        <p:txBody>
          <a:bodyPr anchor="t" rtlCol="false" tIns="0" lIns="0" bIns="0" rIns="0">
            <a:spAutoFit/>
          </a:bodyPr>
          <a:lstStyle/>
          <a:p>
            <a:pPr algn="l">
              <a:lnSpc>
                <a:spcPts val="3114"/>
              </a:lnSpc>
            </a:pPr>
            <a:r>
              <a:rPr lang="en-US" sz="1951">
                <a:solidFill>
                  <a:srgbClr val="272525"/>
                </a:solidFill>
                <a:latin typeface="Inter"/>
                <a:ea typeface="Inter"/>
                <a:cs typeface="Inter"/>
                <a:sym typeface="Inter"/>
              </a:rPr>
              <a:t>Port 8000 carried the same file through a standard HTTP POST (/api/transfers/upload), and streamed real-time progress through WebSocket text frames containing transferred_bytes JSON. The 101 Switching Protocols upgrade is visible in the capture.</a:t>
            </a:r>
          </a:p>
        </p:txBody>
      </p:sp>
      <p:grpSp>
        <p:nvGrpSpPr>
          <p:cNvPr name="Group 15" id="15"/>
          <p:cNvGrpSpPr/>
          <p:nvPr/>
        </p:nvGrpSpPr>
        <p:grpSpPr>
          <a:xfrm rot="0">
            <a:off x="12030837" y="3050981"/>
            <a:ext cx="5282632" cy="4269200"/>
            <a:chOff x="0" y="0"/>
            <a:chExt cx="7043509" cy="5692267"/>
          </a:xfrm>
        </p:grpSpPr>
        <p:sp>
          <p:nvSpPr>
            <p:cNvPr name="Freeform 16" id="16"/>
            <p:cNvSpPr/>
            <p:nvPr/>
          </p:nvSpPr>
          <p:spPr>
            <a:xfrm flipH="false" flipV="false" rot="0">
              <a:off x="0" y="0"/>
              <a:ext cx="7043420" cy="5692267"/>
            </a:xfrm>
            <a:custGeom>
              <a:avLst/>
              <a:gdLst/>
              <a:ahLst/>
              <a:cxnLst/>
              <a:rect r="r" b="b" t="t" l="l"/>
              <a:pathLst>
                <a:path h="5692267" w="7043420">
                  <a:moveTo>
                    <a:pt x="0" y="139319"/>
                  </a:moveTo>
                  <a:cubicBezTo>
                    <a:pt x="0" y="62357"/>
                    <a:pt x="62357" y="0"/>
                    <a:pt x="139319" y="0"/>
                  </a:cubicBezTo>
                  <a:lnTo>
                    <a:pt x="6904101" y="0"/>
                  </a:lnTo>
                  <a:cubicBezTo>
                    <a:pt x="6981063" y="0"/>
                    <a:pt x="7043420" y="62357"/>
                    <a:pt x="7043420" y="139319"/>
                  </a:cubicBezTo>
                  <a:lnTo>
                    <a:pt x="7043420" y="5552948"/>
                  </a:lnTo>
                  <a:cubicBezTo>
                    <a:pt x="7043420" y="5629910"/>
                    <a:pt x="6981063" y="5692267"/>
                    <a:pt x="6904101" y="5692267"/>
                  </a:cubicBezTo>
                  <a:lnTo>
                    <a:pt x="139319" y="5692267"/>
                  </a:lnTo>
                  <a:cubicBezTo>
                    <a:pt x="62357" y="5692267"/>
                    <a:pt x="0" y="5629910"/>
                    <a:pt x="0" y="5552948"/>
                  </a:cubicBezTo>
                  <a:close/>
                </a:path>
              </a:pathLst>
            </a:custGeom>
            <a:solidFill>
              <a:srgbClr val="CCEEFF"/>
            </a:solidFill>
            <a:ln w="9532" cap="sq">
              <a:solidFill>
                <a:srgbClr val="B2D4E5"/>
              </a:solidFill>
              <a:prstDash val="solid"/>
              <a:miter/>
            </a:ln>
          </p:spPr>
        </p:sp>
      </p:grpSp>
      <p:sp>
        <p:nvSpPr>
          <p:cNvPr name="TextBox 17" id="17"/>
          <p:cNvSpPr txBox="true"/>
          <p:nvPr/>
        </p:nvSpPr>
        <p:spPr>
          <a:xfrm rot="0">
            <a:off x="12293270" y="3284839"/>
            <a:ext cx="4757766" cy="435940"/>
          </a:xfrm>
          <a:prstGeom prst="rect">
            <a:avLst/>
          </a:prstGeom>
        </p:spPr>
        <p:txBody>
          <a:bodyPr anchor="t" rtlCol="false" tIns="0" lIns="0" bIns="0" rIns="0">
            <a:spAutoFit/>
          </a:bodyPr>
          <a:lstStyle/>
          <a:p>
            <a:pPr algn="l">
              <a:lnSpc>
                <a:spcPts val="3184"/>
              </a:lnSpc>
            </a:pPr>
            <a:r>
              <a:rPr lang="en-US" sz="2551" b="true">
                <a:solidFill>
                  <a:srgbClr val="272525"/>
                </a:solidFill>
                <a:latin typeface="Petrona Bold"/>
                <a:ea typeface="Petrona Bold"/>
                <a:cs typeface="Petrona Bold"/>
                <a:sym typeface="Petrona Bold"/>
              </a:rPr>
              <a:t>Shared Storage</a:t>
            </a:r>
          </a:p>
        </p:txBody>
      </p:sp>
      <p:sp>
        <p:nvSpPr>
          <p:cNvPr name="TextBox 18" id="18"/>
          <p:cNvSpPr txBox="true"/>
          <p:nvPr/>
        </p:nvSpPr>
        <p:spPr>
          <a:xfrm rot="0">
            <a:off x="12293270" y="3783997"/>
            <a:ext cx="4757766" cy="2469137"/>
          </a:xfrm>
          <a:prstGeom prst="rect">
            <a:avLst/>
          </a:prstGeom>
        </p:spPr>
        <p:txBody>
          <a:bodyPr anchor="t" rtlCol="false" tIns="0" lIns="0" bIns="0" rIns="0">
            <a:spAutoFit/>
          </a:bodyPr>
          <a:lstStyle/>
          <a:p>
            <a:pPr algn="l">
              <a:lnSpc>
                <a:spcPts val="3114"/>
              </a:lnSpc>
            </a:pPr>
            <a:r>
              <a:rPr lang="en-US" sz="1951">
                <a:solidFill>
                  <a:srgbClr val="272525"/>
                </a:solidFill>
                <a:latin typeface="Inter"/>
                <a:ea typeface="Inter"/>
                <a:cs typeface="Inter"/>
                <a:sym typeface="Inter"/>
              </a:rPr>
              <a:t>Both the TCP server and FastAPI read/write the same users/&lt;account&gt;/ directory. The file appeared in the browser's file table immediately after STOR completed — account state changed visibly across both processes.</a:t>
            </a:r>
          </a:p>
        </p:txBody>
      </p:sp>
      <p:sp>
        <p:nvSpPr>
          <p:cNvPr name="TextBox 19" id="19"/>
          <p:cNvSpPr txBox="true"/>
          <p:nvPr/>
        </p:nvSpPr>
        <p:spPr>
          <a:xfrm rot="0">
            <a:off x="1365342" y="7788221"/>
            <a:ext cx="16858602" cy="482956"/>
          </a:xfrm>
          <a:prstGeom prst="rect">
            <a:avLst/>
          </a:prstGeom>
        </p:spPr>
        <p:txBody>
          <a:bodyPr anchor="t" rtlCol="false" tIns="0" lIns="0" bIns="0" rIns="0">
            <a:spAutoFit/>
          </a:bodyPr>
          <a:lstStyle/>
          <a:p>
            <a:pPr algn="l">
              <a:lnSpc>
                <a:spcPts val="3114"/>
              </a:lnSpc>
            </a:pPr>
            <a:r>
              <a:rPr lang="en-US" sz="1951" b="true">
                <a:solidFill>
                  <a:srgbClr val="272525"/>
                </a:solidFill>
                <a:latin typeface="Inter Bold"/>
                <a:ea typeface="Inter Bold"/>
                <a:cs typeface="Inter Bold"/>
                <a:sym typeface="Inter Bold"/>
              </a:rPr>
              <a:t>The custom application is the agreement on the wire. The console is a client of that agreement. The packet capture is the evidence.</a:t>
            </a:r>
          </a:p>
        </p:txBody>
      </p:sp>
      <p:grpSp>
        <p:nvGrpSpPr>
          <p:cNvPr name="Group 20" id="20"/>
          <p:cNvGrpSpPr/>
          <p:nvPr/>
        </p:nvGrpSpPr>
        <p:grpSpPr>
          <a:xfrm rot="0">
            <a:off x="992991" y="7594683"/>
            <a:ext cx="28594" cy="955777"/>
            <a:chOff x="0" y="0"/>
            <a:chExt cx="38125" cy="1274369"/>
          </a:xfrm>
        </p:grpSpPr>
        <p:sp>
          <p:nvSpPr>
            <p:cNvPr name="Freeform 21" id="21"/>
            <p:cNvSpPr/>
            <p:nvPr/>
          </p:nvSpPr>
          <p:spPr>
            <a:xfrm flipH="false" flipV="false" rot="0">
              <a:off x="0" y="0"/>
              <a:ext cx="38100" cy="1274318"/>
            </a:xfrm>
            <a:custGeom>
              <a:avLst/>
              <a:gdLst/>
              <a:ahLst/>
              <a:cxnLst/>
              <a:rect r="r" b="b" t="t" l="l"/>
              <a:pathLst>
                <a:path h="1274318" w="38100">
                  <a:moveTo>
                    <a:pt x="0" y="19050"/>
                  </a:moveTo>
                  <a:cubicBezTo>
                    <a:pt x="0" y="8509"/>
                    <a:pt x="8509" y="0"/>
                    <a:pt x="19050" y="0"/>
                  </a:cubicBezTo>
                  <a:cubicBezTo>
                    <a:pt x="29591" y="0"/>
                    <a:pt x="38100" y="8509"/>
                    <a:pt x="38100" y="19050"/>
                  </a:cubicBezTo>
                  <a:lnTo>
                    <a:pt x="38100" y="1255268"/>
                  </a:lnTo>
                  <a:cubicBezTo>
                    <a:pt x="38100" y="1265809"/>
                    <a:pt x="29591" y="1274318"/>
                    <a:pt x="19050" y="1274318"/>
                  </a:cubicBezTo>
                  <a:cubicBezTo>
                    <a:pt x="8509" y="1274318"/>
                    <a:pt x="0" y="1265809"/>
                    <a:pt x="0" y="1255268"/>
                  </a:cubicBezTo>
                  <a:close/>
                </a:path>
              </a:pathLst>
            </a:custGeom>
            <a:solidFill>
              <a:srgbClr val="007EBD"/>
            </a:solid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descr="preencoded.png"/>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lnTo>
                    <a:pt x="0" y="0"/>
                  </a:lnTo>
                  <a:close/>
                </a:path>
              </a:pathLst>
            </a:custGeom>
            <a:blipFill>
              <a:blip r:embed="rId3"/>
              <a:stretch>
                <a:fillRect l="-1" t="0" r="-1" b="0"/>
              </a:stretch>
            </a:blip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alpha val="90196"/>
              </a:srgbClr>
            </a:solidFill>
          </p:spPr>
        </p:sp>
      </p:grpSp>
      <p:sp>
        <p:nvSpPr>
          <p:cNvPr name="TextBox 6" id="6"/>
          <p:cNvSpPr txBox="true"/>
          <p:nvPr/>
        </p:nvSpPr>
        <p:spPr>
          <a:xfrm rot="0">
            <a:off x="992991" y="1003316"/>
            <a:ext cx="16315868" cy="639547"/>
          </a:xfrm>
          <a:prstGeom prst="rect">
            <a:avLst/>
          </a:prstGeom>
        </p:spPr>
        <p:txBody>
          <a:bodyPr anchor="t" rtlCol="false" tIns="0" lIns="0" bIns="0" rIns="0">
            <a:spAutoFit/>
          </a:bodyPr>
          <a:lstStyle/>
          <a:p>
            <a:pPr algn="l">
              <a:lnSpc>
                <a:spcPts val="4777"/>
              </a:lnSpc>
            </a:pPr>
            <a:r>
              <a:rPr lang="en-US" sz="3827" b="true">
                <a:solidFill>
                  <a:srgbClr val="000000"/>
                </a:solidFill>
                <a:latin typeface="Petrona Bold"/>
                <a:ea typeface="Petrona Bold"/>
                <a:cs typeface="Petrona Bold"/>
                <a:sym typeface="Petrona Bold"/>
              </a:rPr>
              <a:t>Milestones &amp; Conclusion</a:t>
            </a:r>
          </a:p>
        </p:txBody>
      </p:sp>
      <p:graphicFrame>
        <p:nvGraphicFramePr>
          <p:cNvPr name="Table 7" id="7"/>
          <p:cNvGraphicFramePr>
            <a:graphicFrameLocks noGrp="true"/>
          </p:cNvGraphicFramePr>
          <p:nvPr/>
        </p:nvGraphicFramePr>
        <p:xfrm>
          <a:off x="992988" y="1922129"/>
          <a:ext cx="16300485" cy="4861548"/>
        </p:xfrm>
        <a:graphic>
          <a:graphicData uri="http://schemas.openxmlformats.org/drawingml/2006/table">
            <a:tbl>
              <a:tblPr/>
              <a:tblGrid>
                <a:gridCol w="6520194"/>
                <a:gridCol w="9780291"/>
              </a:tblGrid>
              <a:tr h="436518">
                <a:tc>
                  <a:txBody>
                    <a:bodyPr anchor="t" rtlCol="false"/>
                    <a:lstStyle/>
                    <a:p>
                      <a:pPr algn="l">
                        <a:lnSpc>
                          <a:spcPts val="1711"/>
                        </a:lnSpc>
                        <a:defRPr/>
                      </a:pPr>
                      <a:r>
                        <a:rPr lang="en-US" sz="1426" b="true">
                          <a:solidFill>
                            <a:srgbClr val="FFFFFF"/>
                          </a:solidFill>
                          <a:latin typeface="Inter Bold"/>
                          <a:ea typeface="Inter Bold"/>
                          <a:cs typeface="Inter Bold"/>
                          <a:sym typeface="Inter Bold"/>
                        </a:rPr>
                        <a:t>Milestone</a:t>
                      </a:r>
                      <a:endParaRPr lang="en-US" sz="1100"/>
                    </a:p>
                  </a:txBody>
                  <a:tcPr marL="124044" marR="124044" marT="124044" marB="124044"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1A3A52"/>
                    </a:solidFill>
                  </a:tcPr>
                </a:tc>
                <a:tc>
                  <a:txBody>
                    <a:bodyPr anchor="t" rtlCol="false"/>
                    <a:lstStyle/>
                    <a:p>
                      <a:pPr algn="l">
                        <a:lnSpc>
                          <a:spcPts val="1711"/>
                        </a:lnSpc>
                        <a:defRPr/>
                      </a:pPr>
                      <a:r>
                        <a:rPr lang="en-US" sz="1426" b="true">
                          <a:solidFill>
                            <a:srgbClr val="FFFFFF"/>
                          </a:solidFill>
                          <a:latin typeface="Inter Bold"/>
                          <a:ea typeface="Inter Bold"/>
                          <a:cs typeface="Inter Bold"/>
                          <a:sym typeface="Inter Bold"/>
                        </a:rPr>
                        <a:t>Demonstrated Through</a:t>
                      </a:r>
                      <a:endParaRPr lang="en-US" sz="1100"/>
                    </a:p>
                  </a:txBody>
                  <a:tcPr marL="124044" marR="124044" marT="124044" marB="124044"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1A3A52"/>
                    </a:solidFill>
                  </a:tcPr>
                </a:tc>
              </a:tr>
              <a:tr h="441122">
                <a:tc>
                  <a:txBody>
                    <a:bodyPr anchor="t" rtlCol="false"/>
                    <a:lstStyle/>
                    <a:p>
                      <a:pPr algn="l">
                        <a:lnSpc>
                          <a:spcPts val="1711"/>
                        </a:lnSpc>
                        <a:defRPr/>
                      </a:pPr>
                      <a:r>
                        <a:rPr lang="en-US" sz="1426">
                          <a:solidFill>
                            <a:srgbClr val="272525"/>
                          </a:solidFill>
                          <a:latin typeface="Inter"/>
                          <a:ea typeface="Inter"/>
                          <a:cs typeface="Inter"/>
                          <a:sym typeface="Inter"/>
                        </a:rPr>
                        <a:t>TCP STOR / RETR commands</a:t>
                      </a:r>
                      <a:endParaRPr lang="en-US" sz="1100"/>
                    </a:p>
                  </a:txBody>
                  <a:tcPr marL="124044" marR="124044" marT="124044" marB="124044"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1711"/>
                        </a:lnSpc>
                        <a:defRPr/>
                      </a:pPr>
                      <a:r>
                        <a:rPr lang="en-US" sz="1426">
                          <a:solidFill>
                            <a:srgbClr val="272525"/>
                          </a:solidFill>
                          <a:latin typeface="Inter"/>
                          <a:ea typeface="Inter"/>
                          <a:cs typeface="Inter"/>
                          <a:sym typeface="Inter"/>
                        </a:rPr>
                        <a:t>Two TCP streams in Wireshark on port 2121</a:t>
                      </a:r>
                      <a:endParaRPr lang="en-US" sz="1100"/>
                    </a:p>
                  </a:txBody>
                  <a:tcPr marL="124044" marR="124044" marT="124044" marB="124044"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r>
              <a:tr h="450330">
                <a:tc>
                  <a:txBody>
                    <a:bodyPr anchor="t" rtlCol="false"/>
                    <a:lstStyle/>
                    <a:p>
                      <a:pPr algn="l">
                        <a:lnSpc>
                          <a:spcPts val="1711"/>
                        </a:lnSpc>
                        <a:defRPr/>
                      </a:pPr>
                      <a:r>
                        <a:rPr lang="en-US" sz="1426">
                          <a:solidFill>
                            <a:srgbClr val="272525"/>
                          </a:solidFill>
                          <a:latin typeface="Inter"/>
                          <a:ea typeface="Inter"/>
                          <a:cs typeface="Inter"/>
                          <a:sym typeface="Inter"/>
                        </a:rPr>
                        <a:t>8-byte RETR length header (&gt;Q)</a:t>
                      </a:r>
                      <a:endParaRPr lang="en-US" sz="1100"/>
                    </a:p>
                  </a:txBody>
                  <a:tcPr marL="124044" marR="124044" marT="124044" marB="124044"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1711"/>
                        </a:lnSpc>
                        <a:defRPr/>
                      </a:pPr>
                      <a:r>
                        <a:rPr lang="en-US" sz="1426">
                          <a:solidFill>
                            <a:srgbClr val="272525"/>
                          </a:solidFill>
                          <a:latin typeface="Consolas"/>
                          <a:ea typeface="Consolas"/>
                          <a:cs typeface="Consolas"/>
                          <a:sym typeface="Consolas"/>
                        </a:rPr>
                        <a:t>Wireshark hex dump — 00 00 00 00 00 00 00 11</a:t>
                      </a:r>
                      <a:endParaRPr lang="en-US" sz="1100"/>
                    </a:p>
                  </a:txBody>
                  <a:tcPr marL="124044" marR="124044" marT="124044" marB="124044"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r>
              <a:tr h="441122">
                <a:tc>
                  <a:txBody>
                    <a:bodyPr anchor="t" rtlCol="false"/>
                    <a:lstStyle/>
                    <a:p>
                      <a:pPr algn="l">
                        <a:lnSpc>
                          <a:spcPts val="1711"/>
                        </a:lnSpc>
                        <a:defRPr/>
                      </a:pPr>
                      <a:r>
                        <a:rPr lang="en-US" sz="1426">
                          <a:solidFill>
                            <a:srgbClr val="272525"/>
                          </a:solidFill>
                          <a:latin typeface="Inter"/>
                          <a:ea typeface="Inter"/>
                          <a:cs typeface="Inter"/>
                          <a:sym typeface="Inter"/>
                        </a:rPr>
                        <a:t>Per-user filesystem sandbox</a:t>
                      </a:r>
                      <a:endParaRPr lang="en-US" sz="1100"/>
                    </a:p>
                  </a:txBody>
                  <a:tcPr marL="124044" marR="124044" marT="124044" marB="124044"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1711"/>
                        </a:lnSpc>
                        <a:defRPr/>
                      </a:pPr>
                      <a:r>
                        <a:rPr lang="en-US" sz="1426">
                          <a:solidFill>
                            <a:srgbClr val="272525"/>
                          </a:solidFill>
                          <a:latin typeface="Inter"/>
                          <a:ea typeface="Inter"/>
                          <a:cs typeface="Inter"/>
                          <a:sym typeface="Inter"/>
                        </a:rPr>
                        <a:t>Account directory isolation; error 553 on path escape</a:t>
                      </a:r>
                      <a:endParaRPr lang="en-US" sz="1100"/>
                    </a:p>
                  </a:txBody>
                  <a:tcPr marL="124044" marR="124044" marT="124044" marB="124044"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r>
              <a:tr h="441122">
                <a:tc>
                  <a:txBody>
                    <a:bodyPr anchor="t" rtlCol="false"/>
                    <a:lstStyle/>
                    <a:p>
                      <a:pPr algn="l">
                        <a:lnSpc>
                          <a:spcPts val="1711"/>
                        </a:lnSpc>
                        <a:defRPr/>
                      </a:pPr>
                      <a:r>
                        <a:rPr lang="en-US" sz="1426">
                          <a:solidFill>
                            <a:srgbClr val="272525"/>
                          </a:solidFill>
                          <a:latin typeface="Inter"/>
                          <a:ea typeface="Inter"/>
                          <a:cs typeface="Inter"/>
                          <a:sym typeface="Inter"/>
                        </a:rPr>
                        <a:t>Accounts &amp; bcrypt password storage</a:t>
                      </a:r>
                      <a:endParaRPr lang="en-US" sz="1100"/>
                    </a:p>
                  </a:txBody>
                  <a:tcPr marL="124044" marR="124044" marT="124044" marB="124044"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1711"/>
                        </a:lnSpc>
                        <a:defRPr/>
                      </a:pPr>
                      <a:r>
                        <a:rPr lang="en-US" sz="1426">
                          <a:solidFill>
                            <a:srgbClr val="272525"/>
                          </a:solidFill>
                          <a:latin typeface="Inter"/>
                          <a:ea typeface="Inter"/>
                          <a:cs typeface="Inter"/>
                          <a:sym typeface="Inter"/>
                        </a:rPr>
                        <a:t>Sign-in form + SQLite hash; no plaintext at rest</a:t>
                      </a:r>
                      <a:endParaRPr lang="en-US" sz="1100"/>
                    </a:p>
                  </a:txBody>
                  <a:tcPr marL="124044" marR="124044" marT="124044" marB="124044"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r>
              <a:tr h="441122">
                <a:tc>
                  <a:txBody>
                    <a:bodyPr anchor="t" rtlCol="false"/>
                    <a:lstStyle/>
                    <a:p>
                      <a:pPr algn="l">
                        <a:lnSpc>
                          <a:spcPts val="1711"/>
                        </a:lnSpc>
                        <a:defRPr/>
                      </a:pPr>
                      <a:r>
                        <a:rPr lang="en-US" sz="1426">
                          <a:solidFill>
                            <a:srgbClr val="272525"/>
                          </a:solidFill>
                          <a:latin typeface="Inter"/>
                          <a:ea typeface="Inter"/>
                          <a:cs typeface="Inter"/>
                          <a:sym typeface="Inter"/>
                        </a:rPr>
                        <a:t>SQLite transfer history</a:t>
                      </a:r>
                      <a:endParaRPr lang="en-US" sz="1100"/>
                    </a:p>
                  </a:txBody>
                  <a:tcPr marL="124044" marR="124044" marT="124044" marB="124044"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1711"/>
                        </a:lnSpc>
                        <a:defRPr/>
                      </a:pPr>
                      <a:r>
                        <a:rPr lang="en-US" sz="1426">
                          <a:solidFill>
                            <a:srgbClr val="272525"/>
                          </a:solidFill>
                          <a:latin typeface="Inter"/>
                          <a:ea typeface="Inter"/>
                          <a:cs typeface="Inter"/>
                          <a:sym typeface="Inter"/>
                        </a:rPr>
                        <a:t>History table rows persisting after TCP session ends</a:t>
                      </a:r>
                      <a:endParaRPr lang="en-US" sz="1100"/>
                    </a:p>
                  </a:txBody>
                  <a:tcPr marL="124044" marR="124044" marT="124044" marB="124044"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r>
              <a:tr h="441122">
                <a:tc>
                  <a:txBody>
                    <a:bodyPr anchor="t" rtlCol="false"/>
                    <a:lstStyle/>
                    <a:p>
                      <a:pPr algn="l">
                        <a:lnSpc>
                          <a:spcPts val="1711"/>
                        </a:lnSpc>
                        <a:defRPr/>
                      </a:pPr>
                      <a:r>
                        <a:rPr lang="en-US" sz="1426">
                          <a:solidFill>
                            <a:srgbClr val="272525"/>
                          </a:solidFill>
                          <a:latin typeface="Inter"/>
                          <a:ea typeface="Inter"/>
                          <a:cs typeface="Inter"/>
                          <a:sym typeface="Inter"/>
                        </a:rPr>
                        <a:t>Bytes / speed / ETA metrics</a:t>
                      </a:r>
                      <a:endParaRPr lang="en-US" sz="1100"/>
                    </a:p>
                  </a:txBody>
                  <a:tcPr marL="124044" marR="124044" marT="124044" marB="124044"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1711"/>
                        </a:lnSpc>
                        <a:defRPr/>
                      </a:pPr>
                      <a:r>
                        <a:rPr lang="en-US" sz="1426">
                          <a:solidFill>
                            <a:srgbClr val="272525"/>
                          </a:solidFill>
                          <a:latin typeface="Inter"/>
                          <a:ea typeface="Inter"/>
                          <a:cs typeface="Inter"/>
                          <a:sym typeface="Inter"/>
                        </a:rPr>
                        <a:t>Transfer Card display sourced from TCP session progress</a:t>
                      </a:r>
                      <a:endParaRPr lang="en-US" sz="1100"/>
                    </a:p>
                  </a:txBody>
                  <a:tcPr marL="124044" marR="124044" marT="124044" marB="124044"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r>
              <a:tr h="441122">
                <a:tc>
                  <a:txBody>
                    <a:bodyPr anchor="t" rtlCol="false"/>
                    <a:lstStyle/>
                    <a:p>
                      <a:pPr algn="l">
                        <a:lnSpc>
                          <a:spcPts val="1711"/>
                        </a:lnSpc>
                        <a:defRPr/>
                      </a:pPr>
                      <a:r>
                        <a:rPr lang="en-US" sz="1426">
                          <a:solidFill>
                            <a:srgbClr val="272525"/>
                          </a:solidFill>
                          <a:latin typeface="Inter"/>
                          <a:ea typeface="Inter"/>
                          <a:cs typeface="Inter"/>
                          <a:sym typeface="Inter"/>
                        </a:rPr>
                        <a:t>HTTP control plane</a:t>
                      </a:r>
                      <a:endParaRPr lang="en-US" sz="1100"/>
                    </a:p>
                  </a:txBody>
                  <a:tcPr marL="124044" marR="124044" marT="124044" marB="124044"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1711"/>
                        </a:lnSpc>
                        <a:defRPr/>
                      </a:pPr>
                      <a:r>
                        <a:rPr lang="en-US" sz="1426">
                          <a:solidFill>
                            <a:srgbClr val="272525"/>
                          </a:solidFill>
                          <a:latin typeface="Inter"/>
                          <a:ea typeface="Inter"/>
                          <a:cs typeface="Inter"/>
                          <a:sym typeface="Inter"/>
                        </a:rPr>
                        <a:t>Upload flow visible on port 8000 in Wireshark</a:t>
                      </a:r>
                      <a:endParaRPr lang="en-US" sz="1100"/>
                    </a:p>
                  </a:txBody>
                  <a:tcPr marL="124044" marR="124044" marT="124044" marB="124044"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r>
              <a:tr h="441122">
                <a:tc>
                  <a:txBody>
                    <a:bodyPr anchor="t" rtlCol="false"/>
                    <a:lstStyle/>
                    <a:p>
                      <a:pPr algn="l">
                        <a:lnSpc>
                          <a:spcPts val="1711"/>
                        </a:lnSpc>
                        <a:defRPr/>
                      </a:pPr>
                      <a:r>
                        <a:rPr lang="en-US" sz="1426">
                          <a:solidFill>
                            <a:srgbClr val="272525"/>
                          </a:solidFill>
                          <a:latin typeface="Inter"/>
                          <a:ea typeface="Inter"/>
                          <a:cs typeface="Inter"/>
                          <a:sym typeface="Inter"/>
                        </a:rPr>
                        <a:t>React web console</a:t>
                      </a:r>
                      <a:endParaRPr lang="en-US" sz="1100"/>
                    </a:p>
                  </a:txBody>
                  <a:tcPr marL="124044" marR="124044" marT="124044" marB="124044"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1711"/>
                        </a:lnSpc>
                        <a:defRPr/>
                      </a:pPr>
                      <a:r>
                        <a:rPr lang="en-US" sz="1426">
                          <a:solidFill>
                            <a:srgbClr val="272525"/>
                          </a:solidFill>
                          <a:latin typeface="Inter"/>
                          <a:ea typeface="Inter"/>
                          <a:cs typeface="Inter"/>
                          <a:sym typeface="Inter"/>
                        </a:rPr>
                        <a:t>Screenshots + live demonstration at port 3000</a:t>
                      </a:r>
                      <a:endParaRPr lang="en-US" sz="1100"/>
                    </a:p>
                  </a:txBody>
                  <a:tcPr marL="124044" marR="124044" marT="124044" marB="124044"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r>
              <a:tr h="450330">
                <a:tc>
                  <a:txBody>
                    <a:bodyPr anchor="t" rtlCol="false"/>
                    <a:lstStyle/>
                    <a:p>
                      <a:pPr algn="l">
                        <a:lnSpc>
                          <a:spcPts val="1711"/>
                        </a:lnSpc>
                        <a:defRPr/>
                      </a:pPr>
                      <a:r>
                        <a:rPr lang="en-US" sz="1426">
                          <a:solidFill>
                            <a:srgbClr val="272525"/>
                          </a:solidFill>
                          <a:latin typeface="Inter"/>
                          <a:ea typeface="Inter"/>
                          <a:cs typeface="Inter"/>
                          <a:sym typeface="Inter"/>
                        </a:rPr>
                        <a:t>WebSocket progress channel</a:t>
                      </a:r>
                      <a:endParaRPr lang="en-US" sz="1100"/>
                    </a:p>
                  </a:txBody>
                  <a:tcPr marL="124044" marR="124044" marT="124044" marB="124044"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1711"/>
                        </a:lnSpc>
                        <a:defRPr/>
                      </a:pPr>
                      <a:r>
                        <a:rPr lang="en-US" sz="1426">
                          <a:solidFill>
                            <a:srgbClr val="272525"/>
                          </a:solidFill>
                          <a:latin typeface="Inter"/>
                          <a:ea typeface="Inter"/>
                          <a:cs typeface="Inter"/>
                          <a:sym typeface="Inter"/>
                        </a:rPr>
                        <a:t>Live badge + transferred_bytes JSON frames on port 8000</a:t>
                      </a:r>
                      <a:endParaRPr lang="en-US" sz="1100"/>
                    </a:p>
                  </a:txBody>
                  <a:tcPr marL="124044" marR="124044" marT="124044" marB="124044"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r>
              <a:tr h="436518">
                <a:tc>
                  <a:txBody>
                    <a:bodyPr anchor="t" rtlCol="false"/>
                    <a:lstStyle/>
                    <a:p>
                      <a:pPr algn="l">
                        <a:lnSpc>
                          <a:spcPts val="1711"/>
                        </a:lnSpc>
                        <a:defRPr/>
                      </a:pPr>
                      <a:r>
                        <a:rPr lang="en-US" sz="1426">
                          <a:solidFill>
                            <a:srgbClr val="272525"/>
                          </a:solidFill>
                          <a:latin typeface="Inter"/>
                          <a:ea typeface="Inter"/>
                          <a:cs typeface="Inter"/>
                          <a:sym typeface="Inter"/>
                        </a:rPr>
                        <a:t>Full Wireshark capture</a:t>
                      </a:r>
                      <a:endParaRPr lang="en-US" sz="1100"/>
                    </a:p>
                  </a:txBody>
                  <a:tcPr marL="124044" marR="124044" marT="124044" marB="124044"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c>
                  <a:txBody>
                    <a:bodyPr anchor="t" rtlCol="false"/>
                    <a:lstStyle/>
                    <a:p>
                      <a:pPr algn="l">
                        <a:lnSpc>
                          <a:spcPts val="1711"/>
                        </a:lnSpc>
                        <a:defRPr/>
                      </a:pPr>
                      <a:r>
                        <a:rPr lang="en-US" sz="1426">
                          <a:solidFill>
                            <a:srgbClr val="272525"/>
                          </a:solidFill>
                          <a:latin typeface="Inter"/>
                          <a:ea typeface="Inter"/>
                          <a:cs typeface="Inter"/>
                          <a:sym typeface="Inter"/>
                        </a:rPr>
                        <a:t>Packet-level analysis of all three ports simultaneously</a:t>
                      </a:r>
                      <a:endParaRPr lang="en-US" sz="1100"/>
                    </a:p>
                  </a:txBody>
                  <a:tcPr marL="124044" marR="124044" marT="124044" marB="124044"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tcPr>
                </a:tc>
              </a:tr>
            </a:tbl>
          </a:graphicData>
        </a:graphic>
      </p:graphicFrame>
      <p:grpSp>
        <p:nvGrpSpPr>
          <p:cNvPr name="Group 8" id="8"/>
          <p:cNvGrpSpPr/>
          <p:nvPr/>
        </p:nvGrpSpPr>
        <p:grpSpPr>
          <a:xfrm rot="0">
            <a:off x="992991" y="2362371"/>
            <a:ext cx="16315868" cy="11640"/>
            <a:chOff x="0" y="0"/>
            <a:chExt cx="21754490" cy="15519"/>
          </a:xfrm>
        </p:grpSpPr>
        <p:sp>
          <p:nvSpPr>
            <p:cNvPr name="Freeform 9" id="9"/>
            <p:cNvSpPr/>
            <p:nvPr/>
          </p:nvSpPr>
          <p:spPr>
            <a:xfrm flipH="false" flipV="false" rot="0">
              <a:off x="0" y="0"/>
              <a:ext cx="21754464" cy="15494"/>
            </a:xfrm>
            <a:custGeom>
              <a:avLst/>
              <a:gdLst/>
              <a:ahLst/>
              <a:cxnLst/>
              <a:rect r="r" b="b" t="t" l="l"/>
              <a:pathLst>
                <a:path h="15494" w="21754464">
                  <a:moveTo>
                    <a:pt x="0" y="0"/>
                  </a:moveTo>
                  <a:lnTo>
                    <a:pt x="21754464" y="0"/>
                  </a:lnTo>
                  <a:lnTo>
                    <a:pt x="21754464" y="15494"/>
                  </a:lnTo>
                  <a:lnTo>
                    <a:pt x="0" y="15494"/>
                  </a:lnTo>
                  <a:close/>
                </a:path>
              </a:pathLst>
            </a:custGeom>
            <a:solidFill>
              <a:srgbClr val="000000">
                <a:alpha val="392"/>
              </a:srgbClr>
            </a:solidFill>
          </p:spPr>
        </p:sp>
      </p:grpSp>
      <p:grpSp>
        <p:nvGrpSpPr>
          <p:cNvPr name="Group 10" id="10"/>
          <p:cNvGrpSpPr/>
          <p:nvPr/>
        </p:nvGrpSpPr>
        <p:grpSpPr>
          <a:xfrm rot="0">
            <a:off x="992991" y="2819029"/>
            <a:ext cx="16315868" cy="11640"/>
            <a:chOff x="0" y="0"/>
            <a:chExt cx="21754490" cy="15519"/>
          </a:xfrm>
        </p:grpSpPr>
        <p:sp>
          <p:nvSpPr>
            <p:cNvPr name="Freeform 11" id="11"/>
            <p:cNvSpPr/>
            <p:nvPr/>
          </p:nvSpPr>
          <p:spPr>
            <a:xfrm flipH="false" flipV="false" rot="0">
              <a:off x="0" y="0"/>
              <a:ext cx="21754464" cy="15494"/>
            </a:xfrm>
            <a:custGeom>
              <a:avLst/>
              <a:gdLst/>
              <a:ahLst/>
              <a:cxnLst/>
              <a:rect r="r" b="b" t="t" l="l"/>
              <a:pathLst>
                <a:path h="15494" w="21754464">
                  <a:moveTo>
                    <a:pt x="0" y="0"/>
                  </a:moveTo>
                  <a:lnTo>
                    <a:pt x="21754464" y="0"/>
                  </a:lnTo>
                  <a:lnTo>
                    <a:pt x="21754464" y="15494"/>
                  </a:lnTo>
                  <a:lnTo>
                    <a:pt x="0" y="15494"/>
                  </a:lnTo>
                  <a:close/>
                </a:path>
              </a:pathLst>
            </a:custGeom>
            <a:solidFill>
              <a:srgbClr val="000000">
                <a:alpha val="392"/>
              </a:srgbClr>
            </a:solidFill>
          </p:spPr>
        </p:sp>
      </p:grpSp>
      <p:grpSp>
        <p:nvGrpSpPr>
          <p:cNvPr name="Group 12" id="12"/>
          <p:cNvGrpSpPr/>
          <p:nvPr/>
        </p:nvGrpSpPr>
        <p:grpSpPr>
          <a:xfrm rot="0">
            <a:off x="992991" y="3285211"/>
            <a:ext cx="16315868" cy="11640"/>
            <a:chOff x="0" y="0"/>
            <a:chExt cx="21754490" cy="15519"/>
          </a:xfrm>
        </p:grpSpPr>
        <p:sp>
          <p:nvSpPr>
            <p:cNvPr name="Freeform 13" id="13"/>
            <p:cNvSpPr/>
            <p:nvPr/>
          </p:nvSpPr>
          <p:spPr>
            <a:xfrm flipH="false" flipV="false" rot="0">
              <a:off x="0" y="0"/>
              <a:ext cx="21754464" cy="15494"/>
            </a:xfrm>
            <a:custGeom>
              <a:avLst/>
              <a:gdLst/>
              <a:ahLst/>
              <a:cxnLst/>
              <a:rect r="r" b="b" t="t" l="l"/>
              <a:pathLst>
                <a:path h="15494" w="21754464">
                  <a:moveTo>
                    <a:pt x="0" y="0"/>
                  </a:moveTo>
                  <a:lnTo>
                    <a:pt x="21754464" y="0"/>
                  </a:lnTo>
                  <a:lnTo>
                    <a:pt x="21754464" y="15494"/>
                  </a:lnTo>
                  <a:lnTo>
                    <a:pt x="0" y="15494"/>
                  </a:lnTo>
                  <a:close/>
                </a:path>
              </a:pathLst>
            </a:custGeom>
            <a:solidFill>
              <a:srgbClr val="000000">
                <a:alpha val="392"/>
              </a:srgbClr>
            </a:solidFill>
          </p:spPr>
        </p:sp>
      </p:grpSp>
      <p:grpSp>
        <p:nvGrpSpPr>
          <p:cNvPr name="Group 14" id="14"/>
          <p:cNvGrpSpPr/>
          <p:nvPr/>
        </p:nvGrpSpPr>
        <p:grpSpPr>
          <a:xfrm rot="0">
            <a:off x="992991" y="3741868"/>
            <a:ext cx="16315868" cy="11640"/>
            <a:chOff x="0" y="0"/>
            <a:chExt cx="21754490" cy="15519"/>
          </a:xfrm>
        </p:grpSpPr>
        <p:sp>
          <p:nvSpPr>
            <p:cNvPr name="Freeform 15" id="15"/>
            <p:cNvSpPr/>
            <p:nvPr/>
          </p:nvSpPr>
          <p:spPr>
            <a:xfrm flipH="false" flipV="false" rot="0">
              <a:off x="0" y="0"/>
              <a:ext cx="21754464" cy="15494"/>
            </a:xfrm>
            <a:custGeom>
              <a:avLst/>
              <a:gdLst/>
              <a:ahLst/>
              <a:cxnLst/>
              <a:rect r="r" b="b" t="t" l="l"/>
              <a:pathLst>
                <a:path h="15494" w="21754464">
                  <a:moveTo>
                    <a:pt x="0" y="0"/>
                  </a:moveTo>
                  <a:lnTo>
                    <a:pt x="21754464" y="0"/>
                  </a:lnTo>
                  <a:lnTo>
                    <a:pt x="21754464" y="15494"/>
                  </a:lnTo>
                  <a:lnTo>
                    <a:pt x="0" y="15494"/>
                  </a:lnTo>
                  <a:close/>
                </a:path>
              </a:pathLst>
            </a:custGeom>
            <a:solidFill>
              <a:srgbClr val="000000">
                <a:alpha val="392"/>
              </a:srgbClr>
            </a:solidFill>
          </p:spPr>
        </p:sp>
      </p:grpSp>
      <p:grpSp>
        <p:nvGrpSpPr>
          <p:cNvPr name="Group 16" id="16"/>
          <p:cNvGrpSpPr/>
          <p:nvPr/>
        </p:nvGrpSpPr>
        <p:grpSpPr>
          <a:xfrm rot="0">
            <a:off x="992991" y="4198515"/>
            <a:ext cx="16315868" cy="11640"/>
            <a:chOff x="0" y="0"/>
            <a:chExt cx="21754490" cy="15519"/>
          </a:xfrm>
        </p:grpSpPr>
        <p:sp>
          <p:nvSpPr>
            <p:cNvPr name="Freeform 17" id="17"/>
            <p:cNvSpPr/>
            <p:nvPr/>
          </p:nvSpPr>
          <p:spPr>
            <a:xfrm flipH="false" flipV="false" rot="0">
              <a:off x="0" y="0"/>
              <a:ext cx="21754464" cy="15494"/>
            </a:xfrm>
            <a:custGeom>
              <a:avLst/>
              <a:gdLst/>
              <a:ahLst/>
              <a:cxnLst/>
              <a:rect r="r" b="b" t="t" l="l"/>
              <a:pathLst>
                <a:path h="15494" w="21754464">
                  <a:moveTo>
                    <a:pt x="0" y="0"/>
                  </a:moveTo>
                  <a:lnTo>
                    <a:pt x="21754464" y="0"/>
                  </a:lnTo>
                  <a:lnTo>
                    <a:pt x="21754464" y="15494"/>
                  </a:lnTo>
                  <a:lnTo>
                    <a:pt x="0" y="15494"/>
                  </a:lnTo>
                  <a:close/>
                </a:path>
              </a:pathLst>
            </a:custGeom>
            <a:solidFill>
              <a:srgbClr val="000000">
                <a:alpha val="392"/>
              </a:srgbClr>
            </a:solidFill>
          </p:spPr>
        </p:sp>
      </p:grpSp>
      <p:grpSp>
        <p:nvGrpSpPr>
          <p:cNvPr name="Group 18" id="18"/>
          <p:cNvGrpSpPr/>
          <p:nvPr/>
        </p:nvGrpSpPr>
        <p:grpSpPr>
          <a:xfrm rot="0">
            <a:off x="992991" y="4655172"/>
            <a:ext cx="16315868" cy="11640"/>
            <a:chOff x="0" y="0"/>
            <a:chExt cx="21754490" cy="15519"/>
          </a:xfrm>
        </p:grpSpPr>
        <p:sp>
          <p:nvSpPr>
            <p:cNvPr name="Freeform 19" id="19"/>
            <p:cNvSpPr/>
            <p:nvPr/>
          </p:nvSpPr>
          <p:spPr>
            <a:xfrm flipH="false" flipV="false" rot="0">
              <a:off x="0" y="0"/>
              <a:ext cx="21754464" cy="15494"/>
            </a:xfrm>
            <a:custGeom>
              <a:avLst/>
              <a:gdLst/>
              <a:ahLst/>
              <a:cxnLst/>
              <a:rect r="r" b="b" t="t" l="l"/>
              <a:pathLst>
                <a:path h="15494" w="21754464">
                  <a:moveTo>
                    <a:pt x="0" y="0"/>
                  </a:moveTo>
                  <a:lnTo>
                    <a:pt x="21754464" y="0"/>
                  </a:lnTo>
                  <a:lnTo>
                    <a:pt x="21754464" y="15494"/>
                  </a:lnTo>
                  <a:lnTo>
                    <a:pt x="0" y="15494"/>
                  </a:lnTo>
                  <a:close/>
                </a:path>
              </a:pathLst>
            </a:custGeom>
            <a:solidFill>
              <a:srgbClr val="000000">
                <a:alpha val="392"/>
              </a:srgbClr>
            </a:solidFill>
          </p:spPr>
        </p:sp>
      </p:grpSp>
      <p:grpSp>
        <p:nvGrpSpPr>
          <p:cNvPr name="Group 20" id="20"/>
          <p:cNvGrpSpPr/>
          <p:nvPr/>
        </p:nvGrpSpPr>
        <p:grpSpPr>
          <a:xfrm rot="0">
            <a:off x="992991" y="5111820"/>
            <a:ext cx="16315868" cy="11640"/>
            <a:chOff x="0" y="0"/>
            <a:chExt cx="21754490" cy="15519"/>
          </a:xfrm>
        </p:grpSpPr>
        <p:sp>
          <p:nvSpPr>
            <p:cNvPr name="Freeform 21" id="21"/>
            <p:cNvSpPr/>
            <p:nvPr/>
          </p:nvSpPr>
          <p:spPr>
            <a:xfrm flipH="false" flipV="false" rot="0">
              <a:off x="0" y="0"/>
              <a:ext cx="21754464" cy="15494"/>
            </a:xfrm>
            <a:custGeom>
              <a:avLst/>
              <a:gdLst/>
              <a:ahLst/>
              <a:cxnLst/>
              <a:rect r="r" b="b" t="t" l="l"/>
              <a:pathLst>
                <a:path h="15494" w="21754464">
                  <a:moveTo>
                    <a:pt x="0" y="0"/>
                  </a:moveTo>
                  <a:lnTo>
                    <a:pt x="21754464" y="0"/>
                  </a:lnTo>
                  <a:lnTo>
                    <a:pt x="21754464" y="15494"/>
                  </a:lnTo>
                  <a:lnTo>
                    <a:pt x="0" y="15494"/>
                  </a:lnTo>
                  <a:close/>
                </a:path>
              </a:pathLst>
            </a:custGeom>
            <a:solidFill>
              <a:srgbClr val="000000">
                <a:alpha val="392"/>
              </a:srgbClr>
            </a:solidFill>
          </p:spPr>
        </p:sp>
      </p:grpSp>
      <p:grpSp>
        <p:nvGrpSpPr>
          <p:cNvPr name="Group 22" id="22"/>
          <p:cNvGrpSpPr/>
          <p:nvPr/>
        </p:nvGrpSpPr>
        <p:grpSpPr>
          <a:xfrm rot="0">
            <a:off x="992991" y="5568477"/>
            <a:ext cx="16315868" cy="11640"/>
            <a:chOff x="0" y="0"/>
            <a:chExt cx="21754490" cy="15519"/>
          </a:xfrm>
        </p:grpSpPr>
        <p:sp>
          <p:nvSpPr>
            <p:cNvPr name="Freeform 23" id="23"/>
            <p:cNvSpPr/>
            <p:nvPr/>
          </p:nvSpPr>
          <p:spPr>
            <a:xfrm flipH="false" flipV="false" rot="0">
              <a:off x="0" y="0"/>
              <a:ext cx="21754464" cy="15494"/>
            </a:xfrm>
            <a:custGeom>
              <a:avLst/>
              <a:gdLst/>
              <a:ahLst/>
              <a:cxnLst/>
              <a:rect r="r" b="b" t="t" l="l"/>
              <a:pathLst>
                <a:path h="15494" w="21754464">
                  <a:moveTo>
                    <a:pt x="0" y="0"/>
                  </a:moveTo>
                  <a:lnTo>
                    <a:pt x="21754464" y="0"/>
                  </a:lnTo>
                  <a:lnTo>
                    <a:pt x="21754464" y="15494"/>
                  </a:lnTo>
                  <a:lnTo>
                    <a:pt x="0" y="15494"/>
                  </a:lnTo>
                  <a:close/>
                </a:path>
              </a:pathLst>
            </a:custGeom>
            <a:solidFill>
              <a:srgbClr val="000000">
                <a:alpha val="392"/>
              </a:srgbClr>
            </a:solidFill>
          </p:spPr>
        </p:sp>
      </p:grpSp>
      <p:grpSp>
        <p:nvGrpSpPr>
          <p:cNvPr name="Group 24" id="24"/>
          <p:cNvGrpSpPr/>
          <p:nvPr/>
        </p:nvGrpSpPr>
        <p:grpSpPr>
          <a:xfrm rot="0">
            <a:off x="992991" y="6025124"/>
            <a:ext cx="16315868" cy="11640"/>
            <a:chOff x="0" y="0"/>
            <a:chExt cx="21754490" cy="15519"/>
          </a:xfrm>
        </p:grpSpPr>
        <p:sp>
          <p:nvSpPr>
            <p:cNvPr name="Freeform 25" id="25"/>
            <p:cNvSpPr/>
            <p:nvPr/>
          </p:nvSpPr>
          <p:spPr>
            <a:xfrm flipH="false" flipV="false" rot="0">
              <a:off x="0" y="0"/>
              <a:ext cx="21754464" cy="15494"/>
            </a:xfrm>
            <a:custGeom>
              <a:avLst/>
              <a:gdLst/>
              <a:ahLst/>
              <a:cxnLst/>
              <a:rect r="r" b="b" t="t" l="l"/>
              <a:pathLst>
                <a:path h="15494" w="21754464">
                  <a:moveTo>
                    <a:pt x="0" y="0"/>
                  </a:moveTo>
                  <a:lnTo>
                    <a:pt x="21754464" y="0"/>
                  </a:lnTo>
                  <a:lnTo>
                    <a:pt x="21754464" y="15494"/>
                  </a:lnTo>
                  <a:lnTo>
                    <a:pt x="0" y="15494"/>
                  </a:lnTo>
                  <a:close/>
                </a:path>
              </a:pathLst>
            </a:custGeom>
            <a:solidFill>
              <a:srgbClr val="000000">
                <a:alpha val="392"/>
              </a:srgbClr>
            </a:solidFill>
          </p:spPr>
        </p:sp>
      </p:grpSp>
      <p:grpSp>
        <p:nvGrpSpPr>
          <p:cNvPr name="Group 26" id="26"/>
          <p:cNvGrpSpPr/>
          <p:nvPr/>
        </p:nvGrpSpPr>
        <p:grpSpPr>
          <a:xfrm rot="0">
            <a:off x="992991" y="6491316"/>
            <a:ext cx="16315868" cy="11640"/>
            <a:chOff x="0" y="0"/>
            <a:chExt cx="21754490" cy="15519"/>
          </a:xfrm>
        </p:grpSpPr>
        <p:sp>
          <p:nvSpPr>
            <p:cNvPr name="Freeform 27" id="27"/>
            <p:cNvSpPr/>
            <p:nvPr/>
          </p:nvSpPr>
          <p:spPr>
            <a:xfrm flipH="false" flipV="false" rot="0">
              <a:off x="0" y="0"/>
              <a:ext cx="21754464" cy="15494"/>
            </a:xfrm>
            <a:custGeom>
              <a:avLst/>
              <a:gdLst/>
              <a:ahLst/>
              <a:cxnLst/>
              <a:rect r="r" b="b" t="t" l="l"/>
              <a:pathLst>
                <a:path h="15494" w="21754464">
                  <a:moveTo>
                    <a:pt x="0" y="0"/>
                  </a:moveTo>
                  <a:lnTo>
                    <a:pt x="21754464" y="0"/>
                  </a:lnTo>
                  <a:lnTo>
                    <a:pt x="21754464" y="15494"/>
                  </a:lnTo>
                  <a:lnTo>
                    <a:pt x="0" y="15494"/>
                  </a:lnTo>
                  <a:close/>
                </a:path>
              </a:pathLst>
            </a:custGeom>
            <a:solidFill>
              <a:srgbClr val="000000">
                <a:alpha val="392"/>
              </a:srgbClr>
            </a:solidFill>
          </p:spPr>
        </p:sp>
      </p:grpSp>
      <p:sp>
        <p:nvSpPr>
          <p:cNvPr name="TextBox 28" id="28"/>
          <p:cNvSpPr txBox="true"/>
          <p:nvPr/>
        </p:nvSpPr>
        <p:spPr>
          <a:xfrm rot="0">
            <a:off x="992991" y="7218474"/>
            <a:ext cx="9607725" cy="1341368"/>
          </a:xfrm>
          <a:prstGeom prst="rect">
            <a:avLst/>
          </a:prstGeom>
        </p:spPr>
        <p:txBody>
          <a:bodyPr anchor="t" rtlCol="false" tIns="0" lIns="0" bIns="0" rIns="0">
            <a:spAutoFit/>
          </a:bodyPr>
          <a:lstStyle/>
          <a:p>
            <a:pPr algn="l">
              <a:lnSpc>
                <a:spcPts val="2002"/>
              </a:lnSpc>
            </a:pPr>
            <a:r>
              <a:rPr lang="en-US" sz="1426" b="true">
                <a:solidFill>
                  <a:srgbClr val="272525"/>
                </a:solidFill>
                <a:latin typeface="Inter Bold"/>
                <a:ea typeface="Inter Bold"/>
                <a:cs typeface="Inter Bold"/>
                <a:sym typeface="Inter Bold"/>
              </a:rPr>
              <a:t>NetTransfer</a:t>
            </a:r>
            <a:r>
              <a:rPr lang="en-US" sz="1426">
                <a:solidFill>
                  <a:srgbClr val="272525"/>
                </a:solidFill>
                <a:latin typeface="Inter"/>
                <a:ea typeface="Inter"/>
                <a:cs typeface="Inter"/>
                <a:sym typeface="Inter"/>
              </a:rPr>
              <a:t> is a localhost lab for reading and understanding a protocol you wrote. It demonstrates how </a:t>
            </a:r>
            <a:r>
              <a:rPr lang="en-US" sz="1426" b="true">
                <a:solidFill>
                  <a:srgbClr val="272525"/>
                </a:solidFill>
                <a:latin typeface="Inter Bold"/>
                <a:ea typeface="Inter Bold"/>
                <a:cs typeface="Inter Bold"/>
                <a:sym typeface="Inter Bold"/>
              </a:rPr>
              <a:t>React Web Console → HTTP/WebSocket Control Plane → Custom TCP File Protocol → Per-user Sandbox</a:t>
            </a:r>
            <a:r>
              <a:rPr lang="en-US" sz="1426">
                <a:solidFill>
                  <a:srgbClr val="272525"/>
                </a:solidFill>
                <a:latin typeface="Inter"/>
                <a:ea typeface="Inter"/>
                <a:cs typeface="Inter"/>
                <a:sym typeface="Inter"/>
              </a:rPr>
              <a:t> connects a modern web interface with fundamental Computer Networks concepts. Every layer — framing, authentication, sandboxing, progress reporting — was designed and implemented as a cohesive system, then verified at the packet level.</a:t>
            </a:r>
          </a:p>
        </p:txBody>
      </p:sp>
      <p:grpSp>
        <p:nvGrpSpPr>
          <p:cNvPr name="Group 29" id="29"/>
          <p:cNvGrpSpPr/>
          <p:nvPr/>
        </p:nvGrpSpPr>
        <p:grpSpPr>
          <a:xfrm rot="0">
            <a:off x="10930461" y="7131015"/>
            <a:ext cx="6521815" cy="2132143"/>
            <a:chOff x="0" y="0"/>
            <a:chExt cx="8695754" cy="2842857"/>
          </a:xfrm>
        </p:grpSpPr>
        <p:sp>
          <p:nvSpPr>
            <p:cNvPr name="Freeform 30" id="30"/>
            <p:cNvSpPr/>
            <p:nvPr/>
          </p:nvSpPr>
          <p:spPr>
            <a:xfrm flipH="false" flipV="false" rot="0">
              <a:off x="0" y="0"/>
              <a:ext cx="8695817" cy="2843022"/>
            </a:xfrm>
            <a:custGeom>
              <a:avLst/>
              <a:gdLst/>
              <a:ahLst/>
              <a:cxnLst/>
              <a:rect r="r" b="b" t="t" l="l"/>
              <a:pathLst>
                <a:path h="2843022" w="8695817">
                  <a:moveTo>
                    <a:pt x="0" y="178816"/>
                  </a:moveTo>
                  <a:cubicBezTo>
                    <a:pt x="0" y="80010"/>
                    <a:pt x="80010" y="0"/>
                    <a:pt x="178816" y="0"/>
                  </a:cubicBezTo>
                  <a:lnTo>
                    <a:pt x="8517001" y="0"/>
                  </a:lnTo>
                  <a:cubicBezTo>
                    <a:pt x="8615680" y="0"/>
                    <a:pt x="8695817" y="80010"/>
                    <a:pt x="8695817" y="178816"/>
                  </a:cubicBezTo>
                  <a:lnTo>
                    <a:pt x="8695817" y="2664206"/>
                  </a:lnTo>
                  <a:cubicBezTo>
                    <a:pt x="8695817" y="2762885"/>
                    <a:pt x="8615807" y="2843022"/>
                    <a:pt x="8517001" y="2843022"/>
                  </a:cubicBezTo>
                  <a:lnTo>
                    <a:pt x="178816" y="2843022"/>
                  </a:lnTo>
                  <a:cubicBezTo>
                    <a:pt x="80010" y="2842895"/>
                    <a:pt x="0" y="2762758"/>
                    <a:pt x="0" y="2664079"/>
                  </a:cubicBezTo>
                  <a:close/>
                </a:path>
              </a:pathLst>
            </a:custGeom>
            <a:solidFill>
              <a:srgbClr val="1A3A52">
                <a:alpha val="90196"/>
              </a:srgbClr>
            </a:solidFill>
          </p:spPr>
        </p:sp>
      </p:grpSp>
      <p:sp>
        <p:nvSpPr>
          <p:cNvPr name="TextBox 31" id="31"/>
          <p:cNvSpPr txBox="true"/>
          <p:nvPr/>
        </p:nvSpPr>
        <p:spPr>
          <a:xfrm rot="0">
            <a:off x="11116637" y="7261050"/>
            <a:ext cx="6149464" cy="315011"/>
          </a:xfrm>
          <a:prstGeom prst="rect">
            <a:avLst/>
          </a:prstGeom>
        </p:spPr>
        <p:txBody>
          <a:bodyPr anchor="t" rtlCol="false" tIns="0" lIns="0" bIns="0" rIns="0">
            <a:spAutoFit/>
          </a:bodyPr>
          <a:lstStyle/>
          <a:p>
            <a:pPr algn="l">
              <a:lnSpc>
                <a:spcPts val="2341"/>
              </a:lnSpc>
            </a:pPr>
            <a:r>
              <a:rPr lang="en-US" sz="1876" b="true">
                <a:solidFill>
                  <a:srgbClr val="FFFFFF"/>
                </a:solidFill>
                <a:latin typeface="Petrona Bold"/>
                <a:ea typeface="Petrona Bold"/>
                <a:cs typeface="Petrona Bold"/>
                <a:sym typeface="Petrona Bold"/>
              </a:rPr>
              <a:t>Questions Welcome</a:t>
            </a:r>
          </a:p>
        </p:txBody>
      </p:sp>
      <p:sp>
        <p:nvSpPr>
          <p:cNvPr name="TextBox 32" id="32"/>
          <p:cNvSpPr txBox="true"/>
          <p:nvPr/>
        </p:nvSpPr>
        <p:spPr>
          <a:xfrm rot="0">
            <a:off x="11116637" y="7677521"/>
            <a:ext cx="6149464" cy="1536783"/>
          </a:xfrm>
          <a:prstGeom prst="rect">
            <a:avLst/>
          </a:prstGeom>
        </p:spPr>
        <p:txBody>
          <a:bodyPr anchor="t" rtlCol="false" tIns="0" lIns="0" bIns="0" rIns="0">
            <a:spAutoFit/>
          </a:bodyPr>
          <a:lstStyle/>
          <a:p>
            <a:pPr algn="l" marL="258293" indent="-129146" lvl="1">
              <a:lnSpc>
                <a:spcPts val="2002"/>
              </a:lnSpc>
              <a:buFont typeface="Arial"/>
              <a:buChar char="•"/>
            </a:pPr>
            <a:r>
              <a:rPr lang="en-US" sz="1426">
                <a:solidFill>
                  <a:srgbClr val="FFFFFF"/>
                </a:solidFill>
                <a:latin typeface="Inter"/>
                <a:ea typeface="Inter"/>
                <a:cs typeface="Inter"/>
                <a:sym typeface="Inter"/>
              </a:rPr>
              <a:t>TCP framing design (STOR vs RETR asymmetry)</a:t>
            </a:r>
          </a:p>
          <a:p>
            <a:pPr algn="l" marL="258293" indent="-129146" lvl="1">
              <a:lnSpc>
                <a:spcPts val="2002"/>
              </a:lnSpc>
              <a:buFont typeface="Arial"/>
              <a:buChar char="•"/>
            </a:pPr>
            <a:r>
              <a:rPr lang="en-US" sz="1426">
                <a:solidFill>
                  <a:srgbClr val="FFFFFF"/>
                </a:solidFill>
                <a:latin typeface="Inter"/>
                <a:ea typeface="Inter"/>
                <a:cs typeface="Inter"/>
                <a:sym typeface="Inter"/>
              </a:rPr>
              <a:t>Sandbox path resolution &amp; error 553</a:t>
            </a:r>
          </a:p>
          <a:p>
            <a:pPr algn="l" marL="258293" indent="-129146" lvl="1">
              <a:lnSpc>
                <a:spcPts val="2002"/>
              </a:lnSpc>
              <a:buFont typeface="Arial"/>
              <a:buChar char="•"/>
            </a:pPr>
            <a:r>
              <a:rPr lang="en-US" sz="1426">
                <a:solidFill>
                  <a:srgbClr val="FFFFFF"/>
                </a:solidFill>
                <a:latin typeface="Inter"/>
                <a:ea typeface="Inter"/>
                <a:cs typeface="Inter"/>
                <a:sym typeface="Inter"/>
              </a:rPr>
              <a:t>Two-hop architecture trade-offs</a:t>
            </a:r>
          </a:p>
          <a:p>
            <a:pPr algn="l" marL="258293" indent="-129146" lvl="1">
              <a:lnSpc>
                <a:spcPts val="2002"/>
              </a:lnSpc>
              <a:buFont typeface="Arial"/>
              <a:buChar char="•"/>
            </a:pPr>
            <a:r>
              <a:rPr lang="en-US" sz="1426">
                <a:solidFill>
                  <a:srgbClr val="FFFFFF"/>
                </a:solidFill>
                <a:latin typeface="Inter"/>
                <a:ea typeface="Inter"/>
                <a:cs typeface="Inter"/>
                <a:sym typeface="Inter"/>
              </a:rPr>
              <a:t>Wireshark capture methodology</a:t>
            </a:r>
          </a:p>
          <a:p>
            <a:pPr algn="l" marL="258293" indent="-129146" lvl="1">
              <a:lnSpc>
                <a:spcPts val="2002"/>
              </a:lnSpc>
              <a:buFont typeface="Arial"/>
              <a:buChar char="•"/>
            </a:pPr>
            <a:r>
              <a:rPr lang="en-US" sz="1426">
                <a:solidFill>
                  <a:srgbClr val="FFFFFF"/>
                </a:solidFill>
                <a:latin typeface="Inter"/>
                <a:ea typeface="Inter"/>
                <a:cs typeface="Inter"/>
                <a:sym typeface="Inter"/>
              </a:rPr>
              <a:t>Lab limitations &amp; TLS extension path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DAHWChMScS4</dc:identifier>
  <dcterms:modified xsi:type="dcterms:W3CDTF">2011-08-01T06:04:30Z</dcterms:modified>
  <cp:revision>1</cp:revision>
  <dc:title>NetTransfer-A-File-Two-Sockets-One-Sandbox.pptx</dc:title>
</cp:coreProperties>
</file>